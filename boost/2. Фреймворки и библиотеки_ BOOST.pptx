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44" Type="http://schemas.openxmlformats.org/officeDocument/2006/relationships/slide" Target="slides/slide39.xml"/><Relationship Id="rId21" Type="http://schemas.openxmlformats.org/officeDocument/2006/relationships/slide" Target="slides/slide16.xml"/><Relationship Id="rId43" Type="http://schemas.openxmlformats.org/officeDocument/2006/relationships/slide" Target="slides/slide38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c8c3992bfe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2c8c3992bfe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68b7bb8ccf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68b7bb8ccf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86219a36e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86219a36e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862732096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862732096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8627320961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8627320961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86219a36eb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86219a36eb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86290b8c7d_1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86290b8c7d_1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86290b8c7d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86290b8c7d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68b7bb8ccf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68b7bb8ccf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68b7bb8ccf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68b7bb8ccf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68b7bb8ccf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68b7bb8ccf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68b7bb8ccf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68b7bb8ccf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6c94c5fb3d_0_2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6c94c5fb3d_0_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68b7bb8ccf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68b7bb8ccf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6c94c5fb3d_0_2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6c94c5fb3d_0_2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86219a36eb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86219a36eb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6c94c5fb3d_0_2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6c94c5fb3d_0_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68b7bb8ccf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68b7bb8ccf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6c94c5fb3d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6c94c5fb3d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68b7bb8ccf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68b7bb8ccf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6c94c5fb3d_0_3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36c94c5fb3d_0_3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6c94c5fb3d_0_3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36c94c5fb3d_0_3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86219a36eb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386219a36eb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6c94c5fb3d_0_3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36c94c5fb3d_0_3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8616d19a64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8616d19a64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8616d19a64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38616d19a64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68b7bb8ccf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368b7bb8ccf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8616d19a64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38616d19a64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8616d19a64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38616d19a64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8616d19a64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38616d19a64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6c94c5fb3d_0_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36c94c5fb3d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68b7bb8ccf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368b7bb8ccf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6c94c5fb3d_0_3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36c94c5fb3d_0_3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6c94c5fb3d_0_3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36c94c5fb3d_0_3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6c94c5fb3d_0_3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36c94c5fb3d_0_3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8616d19a64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38616d19a64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68b7bb8ccf_0_2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368b7bb8ccf_0_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68b7bb8ccf_0_3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368b7bb8ccf_0_3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>
  <p:cSld name="Титульный слайд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629841" y="3139343"/>
            <a:ext cx="7885500" cy="67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5400" spcFirstLastPara="1" rIns="0" wrap="square" tIns="270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3600"/>
              <a:buFont typeface="PT San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629841" y="4010118"/>
            <a:ext cx="7885500" cy="7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000" lIns="5400" spcFirstLastPara="1" rIns="0" wrap="square" tIns="27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5336E"/>
              </a:buClr>
              <a:buSzPts val="21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2" type="body"/>
          </p:nvPr>
        </p:nvSpPr>
        <p:spPr>
          <a:xfrm>
            <a:off x="629841" y="2589257"/>
            <a:ext cx="7885500" cy="34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000" lIns="5400" spcFirstLastPara="1" rIns="0" wrap="square" tIns="27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5336E"/>
              </a:buClr>
              <a:buSzPts val="21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34275" lIns="0" spcFirstLastPara="1" rIns="0" wrap="square" tIns="34275">
            <a:noAutofit/>
          </a:bodyPr>
          <a:lstStyle>
            <a:lvl1pPr lvl="0">
              <a:buNone/>
              <a:defRPr sz="1300">
                <a:solidFill>
                  <a:srgbClr val="05336E"/>
                </a:solidFill>
              </a:defRPr>
            </a:lvl1pPr>
            <a:lvl2pPr lvl="1">
              <a:buNone/>
              <a:defRPr sz="1300">
                <a:solidFill>
                  <a:srgbClr val="05336E"/>
                </a:solidFill>
              </a:defRPr>
            </a:lvl2pPr>
            <a:lvl3pPr lvl="2">
              <a:buNone/>
              <a:defRPr sz="1300">
                <a:solidFill>
                  <a:srgbClr val="05336E"/>
                </a:solidFill>
              </a:defRPr>
            </a:lvl3pPr>
            <a:lvl4pPr lvl="3">
              <a:buNone/>
              <a:defRPr sz="1300">
                <a:solidFill>
                  <a:srgbClr val="05336E"/>
                </a:solidFill>
              </a:defRPr>
            </a:lvl4pPr>
            <a:lvl5pPr lvl="4">
              <a:buNone/>
              <a:defRPr sz="1300">
                <a:solidFill>
                  <a:srgbClr val="05336E"/>
                </a:solidFill>
              </a:defRPr>
            </a:lvl5pPr>
            <a:lvl6pPr lvl="5">
              <a:buNone/>
              <a:defRPr sz="1300">
                <a:solidFill>
                  <a:srgbClr val="05336E"/>
                </a:solidFill>
              </a:defRPr>
            </a:lvl6pPr>
            <a:lvl7pPr lvl="6">
              <a:buNone/>
              <a:defRPr sz="1300">
                <a:solidFill>
                  <a:srgbClr val="05336E"/>
                </a:solidFill>
              </a:defRPr>
            </a:lvl7pPr>
            <a:lvl8pPr lvl="7">
              <a:buNone/>
              <a:defRPr sz="1300">
                <a:solidFill>
                  <a:srgbClr val="05336E"/>
                </a:solidFill>
              </a:defRPr>
            </a:lvl8pPr>
            <a:lvl9pPr lvl="8">
              <a:buNone/>
              <a:defRPr sz="1300">
                <a:solidFill>
                  <a:srgbClr val="05336E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идео + заголовок и объект">
  <p:cSld name="Видео + заголовок и объект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/>
        </p:nvSpPr>
        <p:spPr>
          <a:xfrm>
            <a:off x="251952" y="2099245"/>
            <a:ext cx="2497500" cy="11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2400" u="none" cap="none" strike="noStrik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НЕ ИСПОЛЬЗОВАТЬ</a:t>
            </a:r>
            <a:endParaRPr sz="1100"/>
          </a:p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365965" y="4804358"/>
            <a:ext cx="337500" cy="2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7" name="Google Shape;17;p3"/>
          <p:cNvSpPr txBox="1"/>
          <p:nvPr>
            <p:ph idx="1" type="body"/>
          </p:nvPr>
        </p:nvSpPr>
        <p:spPr>
          <a:xfrm>
            <a:off x="3923927" y="4788678"/>
            <a:ext cx="3348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27000" wrap="square" tIns="27000">
            <a:noAutofit/>
          </a:bodyPr>
          <a:lstStyle>
            <a:lvl1pPr indent="-228600" lvl="0" marL="457200" marR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1100"/>
              <a:buFont typeface="Arial"/>
              <a:buNone/>
              <a:defRPr sz="1100">
                <a:solidFill>
                  <a:srgbClr val="05336E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3923927" y="255824"/>
            <a:ext cx="47796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2" type="body"/>
          </p:nvPr>
        </p:nvSpPr>
        <p:spPr>
          <a:xfrm>
            <a:off x="3923927" y="897731"/>
            <a:ext cx="4779600" cy="35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27000" lIns="24300" spcFirstLastPara="1" rIns="0" wrap="square" tIns="27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29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Заголовок и объект">
  <p:cSld name="1_Заголовок и объект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440531" y="255824"/>
            <a:ext cx="82629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7596336" y="4804358"/>
            <a:ext cx="337500" cy="2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40531" y="4788678"/>
            <a:ext cx="3375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Autofit/>
          </a:bodyPr>
          <a:lstStyle>
            <a:lvl1pPr indent="-228600" lvl="0" marL="457200" marR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1100"/>
              <a:buFont typeface="Arial"/>
              <a:buNone/>
              <a:defRPr sz="1100">
                <a:solidFill>
                  <a:srgbClr val="05336E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2" type="body"/>
          </p:nvPr>
        </p:nvSpPr>
        <p:spPr>
          <a:xfrm>
            <a:off x="440531" y="897564"/>
            <a:ext cx="8262900" cy="3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000" lIns="5400" spcFirstLastPara="1" rIns="0" wrap="square" tIns="27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5" name="Google Shape;25;p4"/>
          <p:cNvSpPr/>
          <p:nvPr/>
        </p:nvSpPr>
        <p:spPr>
          <a:xfrm rot="-5400000">
            <a:off x="8085225" y="4207662"/>
            <a:ext cx="552965" cy="532916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chemeClr val="lt1"/>
                </a:solidFill>
                <a:latin typeface="PT Sans"/>
              </a:rPr>
              <a:t>НЕ ИСПОЛЬЗОВАТЬ</a:t>
            </a: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29">
          <p15:clr>
            <a:srgbClr val="FBAE40"/>
          </p15:clr>
        </p15:guide>
        <p15:guide id="2" pos="295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>
  <p:cSld name="Заголовок и объект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/>
          <p:nvPr>
            <p:ph type="title"/>
          </p:nvPr>
        </p:nvSpPr>
        <p:spPr>
          <a:xfrm>
            <a:off x="440531" y="255824"/>
            <a:ext cx="82629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365965" y="4804358"/>
            <a:ext cx="337500" cy="2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440531" y="4788678"/>
            <a:ext cx="3375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Autofit/>
          </a:bodyPr>
          <a:lstStyle>
            <a:lvl1pPr indent="-228600" lvl="0" marL="457200" marR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1100"/>
              <a:buFont typeface="Arial"/>
              <a:buNone/>
              <a:defRPr sz="1100">
                <a:solidFill>
                  <a:srgbClr val="05336E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2" type="body"/>
          </p:nvPr>
        </p:nvSpPr>
        <p:spPr>
          <a:xfrm>
            <a:off x="440531" y="897564"/>
            <a:ext cx="8262900" cy="3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000" lIns="5400" spcFirstLastPara="1" rIns="0" wrap="square" tIns="27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29">
          <p15:clr>
            <a:srgbClr val="FBAE40"/>
          </p15:clr>
        </p15:guide>
        <p15:guide id="2" pos="295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ва объекта">
  <p:cSld name="Два объекта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idx="1" type="body"/>
          </p:nvPr>
        </p:nvSpPr>
        <p:spPr>
          <a:xfrm>
            <a:off x="440531" y="897564"/>
            <a:ext cx="4023600" cy="3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000" lIns="24300" spcFirstLastPara="1" rIns="0" wrap="square" tIns="27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2" type="body"/>
          </p:nvPr>
        </p:nvSpPr>
        <p:spPr>
          <a:xfrm>
            <a:off x="4680012" y="897564"/>
            <a:ext cx="4017000" cy="3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000" lIns="24300" spcFirstLastPara="1" rIns="0" wrap="square" tIns="27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2" type="sldNum"/>
          </p:nvPr>
        </p:nvSpPr>
        <p:spPr>
          <a:xfrm>
            <a:off x="8365965" y="4804358"/>
            <a:ext cx="337500" cy="2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35" name="Google Shape;35;p6"/>
          <p:cNvSpPr txBox="1"/>
          <p:nvPr>
            <p:ph type="title"/>
          </p:nvPr>
        </p:nvSpPr>
        <p:spPr>
          <a:xfrm>
            <a:off x="440531" y="255824"/>
            <a:ext cx="82629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3" type="body"/>
          </p:nvPr>
        </p:nvSpPr>
        <p:spPr>
          <a:xfrm>
            <a:off x="440531" y="4788678"/>
            <a:ext cx="3375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Autofit/>
          </a:bodyPr>
          <a:lstStyle>
            <a:lvl1pPr indent="-228600" lvl="0" marL="457200" marR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1100"/>
              <a:buFont typeface="Arial"/>
              <a:buNone/>
              <a:defRPr sz="1100">
                <a:solidFill>
                  <a:srgbClr val="05336E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ва заголовка и объекта">
  <p:cSld name="Два заголовка и объекта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/>
          <p:nvPr>
            <p:ph idx="1" type="body"/>
          </p:nvPr>
        </p:nvSpPr>
        <p:spPr>
          <a:xfrm>
            <a:off x="440531" y="897564"/>
            <a:ext cx="4023600" cy="621600"/>
          </a:xfrm>
          <a:prstGeom prst="rect">
            <a:avLst/>
          </a:prstGeom>
          <a:noFill/>
          <a:ln>
            <a:noFill/>
          </a:ln>
        </p:spPr>
        <p:txBody>
          <a:bodyPr anchorCtr="0" anchor="b" bIns="27000" lIns="24300" spcFirstLastPara="1" rIns="0" wrap="square" tIns="27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5336E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Google Shape;39;p7"/>
          <p:cNvSpPr txBox="1"/>
          <p:nvPr>
            <p:ph idx="2" type="body"/>
          </p:nvPr>
        </p:nvSpPr>
        <p:spPr>
          <a:xfrm>
            <a:off x="440531" y="1519125"/>
            <a:ext cx="4023600" cy="29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27000" lIns="24300" spcFirstLastPara="1" rIns="0" wrap="square" tIns="27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3" type="body"/>
          </p:nvPr>
        </p:nvSpPr>
        <p:spPr>
          <a:xfrm>
            <a:off x="4680012" y="897564"/>
            <a:ext cx="4023600" cy="621600"/>
          </a:xfrm>
          <a:prstGeom prst="rect">
            <a:avLst/>
          </a:prstGeom>
          <a:noFill/>
          <a:ln>
            <a:noFill/>
          </a:ln>
        </p:spPr>
        <p:txBody>
          <a:bodyPr anchorCtr="0" anchor="b" bIns="27000" lIns="24300" spcFirstLastPara="1" rIns="0" wrap="square" tIns="27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5336E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Google Shape;41;p7"/>
          <p:cNvSpPr txBox="1"/>
          <p:nvPr>
            <p:ph idx="4" type="body"/>
          </p:nvPr>
        </p:nvSpPr>
        <p:spPr>
          <a:xfrm>
            <a:off x="4680011" y="1519125"/>
            <a:ext cx="4023600" cy="29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27000" lIns="24300" spcFirstLastPara="1" rIns="0" wrap="square" tIns="27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2" type="sldNum"/>
          </p:nvPr>
        </p:nvSpPr>
        <p:spPr>
          <a:xfrm>
            <a:off x="8365965" y="4804358"/>
            <a:ext cx="337500" cy="2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43" name="Google Shape;43;p7"/>
          <p:cNvSpPr txBox="1"/>
          <p:nvPr>
            <p:ph type="title"/>
          </p:nvPr>
        </p:nvSpPr>
        <p:spPr>
          <a:xfrm>
            <a:off x="440531" y="255824"/>
            <a:ext cx="82629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5" type="body"/>
          </p:nvPr>
        </p:nvSpPr>
        <p:spPr>
          <a:xfrm>
            <a:off x="440531" y="4788678"/>
            <a:ext cx="3375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Autofit/>
          </a:bodyPr>
          <a:lstStyle>
            <a:lvl1pPr indent="-228600" lvl="0" marL="457200" marR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1100"/>
              <a:buFont typeface="Arial"/>
              <a:buNone/>
              <a:defRPr sz="1100">
                <a:solidFill>
                  <a:srgbClr val="05336E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ъект с подписью">
  <p:cSld name="Объект с подписью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idx="12" type="sldNum"/>
          </p:nvPr>
        </p:nvSpPr>
        <p:spPr>
          <a:xfrm>
            <a:off x="8365965" y="4804358"/>
            <a:ext cx="337500" cy="2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47" name="Google Shape;47;p8"/>
          <p:cNvSpPr txBox="1"/>
          <p:nvPr>
            <p:ph idx="1" type="body"/>
          </p:nvPr>
        </p:nvSpPr>
        <p:spPr>
          <a:xfrm>
            <a:off x="440531" y="897564"/>
            <a:ext cx="3375300" cy="3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000" lIns="24300" spcFirstLastPara="1" rIns="0" wrap="square" tIns="27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2" type="body"/>
          </p:nvPr>
        </p:nvSpPr>
        <p:spPr>
          <a:xfrm>
            <a:off x="3923928" y="897564"/>
            <a:ext cx="4779600" cy="3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000" lIns="24300" spcFirstLastPara="1" rIns="0" wrap="square" tIns="27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type="title"/>
          </p:nvPr>
        </p:nvSpPr>
        <p:spPr>
          <a:xfrm>
            <a:off x="440531" y="255824"/>
            <a:ext cx="82629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0" name="Google Shape;50;p8"/>
          <p:cNvSpPr txBox="1"/>
          <p:nvPr>
            <p:ph idx="3" type="body"/>
          </p:nvPr>
        </p:nvSpPr>
        <p:spPr>
          <a:xfrm>
            <a:off x="440531" y="4788678"/>
            <a:ext cx="3375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Autofit/>
          </a:bodyPr>
          <a:lstStyle>
            <a:lvl1pPr indent="-228600" lvl="0" marL="457200" marR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1100"/>
              <a:buFont typeface="Arial"/>
              <a:buNone/>
              <a:defRPr sz="1100">
                <a:solidFill>
                  <a:srgbClr val="05336E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исунок с подписью">
  <p:cSld name="Рисунок с подписью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9"/>
          <p:cNvSpPr/>
          <p:nvPr>
            <p:ph idx="2" type="pic"/>
          </p:nvPr>
        </p:nvSpPr>
        <p:spPr>
          <a:xfrm>
            <a:off x="3923928" y="897564"/>
            <a:ext cx="4779600" cy="3564300"/>
          </a:xfrm>
          <a:prstGeom prst="rect">
            <a:avLst/>
          </a:prstGeom>
          <a:noFill/>
          <a:ln>
            <a:noFill/>
          </a:ln>
        </p:spPr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8365965" y="4804358"/>
            <a:ext cx="337500" cy="2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54" name="Google Shape;54;p9"/>
          <p:cNvSpPr txBox="1"/>
          <p:nvPr>
            <p:ph idx="1" type="body"/>
          </p:nvPr>
        </p:nvSpPr>
        <p:spPr>
          <a:xfrm>
            <a:off x="440531" y="897564"/>
            <a:ext cx="3375300" cy="3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000" lIns="24300" spcFirstLastPara="1" rIns="0" wrap="square" tIns="27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5" name="Google Shape;55;p9"/>
          <p:cNvSpPr txBox="1"/>
          <p:nvPr>
            <p:ph type="title"/>
          </p:nvPr>
        </p:nvSpPr>
        <p:spPr>
          <a:xfrm>
            <a:off x="440531" y="255824"/>
            <a:ext cx="82629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3" type="body"/>
          </p:nvPr>
        </p:nvSpPr>
        <p:spPr>
          <a:xfrm>
            <a:off x="440531" y="4788678"/>
            <a:ext cx="3375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Autofit/>
          </a:bodyPr>
          <a:lstStyle>
            <a:lvl1pPr indent="-228600" lvl="0" marL="457200" marR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1100"/>
              <a:buFont typeface="Arial"/>
              <a:buNone/>
              <a:defRPr sz="1100">
                <a:solidFill>
                  <a:srgbClr val="05336E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Заголовок и объект">
  <p:cSld name="2_Заголовок и объект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0"/>
          <p:cNvSpPr txBox="1"/>
          <p:nvPr>
            <p:ph type="title"/>
          </p:nvPr>
        </p:nvSpPr>
        <p:spPr>
          <a:xfrm>
            <a:off x="440531" y="255824"/>
            <a:ext cx="82629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1400"/>
              <a:buFont typeface="PT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12" type="sldNum"/>
          </p:nvPr>
        </p:nvSpPr>
        <p:spPr>
          <a:xfrm>
            <a:off x="7596336" y="4804358"/>
            <a:ext cx="337500" cy="2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T Sans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T Sans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T Sans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T Sans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T Sans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T Sans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T Sans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T Sans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T Sans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60" name="Google Shape;60;p10"/>
          <p:cNvSpPr txBox="1"/>
          <p:nvPr>
            <p:ph idx="1" type="body"/>
          </p:nvPr>
        </p:nvSpPr>
        <p:spPr>
          <a:xfrm>
            <a:off x="440531" y="4788678"/>
            <a:ext cx="3375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Autofit/>
          </a:bodyPr>
          <a:lstStyle>
            <a:lvl1pPr indent="-228600" lvl="0" marL="457200" marR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1100"/>
              <a:buFont typeface="Arial"/>
              <a:buNone/>
              <a:defRPr sz="1100">
                <a:solidFill>
                  <a:srgbClr val="05336E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1" name="Google Shape;61;p10"/>
          <p:cNvSpPr txBox="1"/>
          <p:nvPr>
            <p:ph idx="2" type="body"/>
          </p:nvPr>
        </p:nvSpPr>
        <p:spPr>
          <a:xfrm>
            <a:off x="440531" y="897564"/>
            <a:ext cx="8262900" cy="3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000" lIns="5400" spcFirstLastPara="1" rIns="0" wrap="square" tIns="27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2" name="Google Shape;62;p10"/>
          <p:cNvSpPr/>
          <p:nvPr/>
        </p:nvSpPr>
        <p:spPr>
          <a:xfrm rot="-5400000">
            <a:off x="8085225" y="4207662"/>
            <a:ext cx="552965" cy="532916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chemeClr val="lt1"/>
                </a:solidFill>
                <a:latin typeface="PT Sans"/>
              </a:rPr>
              <a:t>НЕ ИСПОЛЬЗОВАТЬ</a:t>
            </a: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29">
          <p15:clr>
            <a:srgbClr val="FBAE40"/>
          </p15:clr>
        </p15:guide>
        <p15:guide id="2" pos="295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 1" type="obj">
  <p:cSld name="OBJEC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1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равнение" type="twoTxTwoObj">
  <p:cSld name="TWO_OBJECTS_WITH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2"/>
          <p:cNvSpPr txBox="1"/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" type="body"/>
          </p:nvPr>
        </p:nvSpPr>
        <p:spPr>
          <a:xfrm>
            <a:off x="629842" y="1260872"/>
            <a:ext cx="38682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72" name="Google Shape;72;p12"/>
          <p:cNvSpPr txBox="1"/>
          <p:nvPr>
            <p:ph idx="2" type="body"/>
          </p:nvPr>
        </p:nvSpPr>
        <p:spPr>
          <a:xfrm>
            <a:off x="629842" y="1878806"/>
            <a:ext cx="38682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3" type="body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74" name="Google Shape;74;p12"/>
          <p:cNvSpPr txBox="1"/>
          <p:nvPr>
            <p:ph idx="4" type="body"/>
          </p:nvPr>
        </p:nvSpPr>
        <p:spPr>
          <a:xfrm>
            <a:off x="4629150" y="1878806"/>
            <a:ext cx="38874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 1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27000" lIns="24300" spcFirstLastPara="1" rIns="0" wrap="square" tIns="2700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27000" lIns="5400" spcFirstLastPara="1" rIns="0" wrap="square" tIns="27000">
            <a:normAutofit/>
          </a:bodyPr>
          <a:lstStyle>
            <a:lvl1pPr lvl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34275" lIns="0" spcFirstLastPara="1" rIns="0" wrap="square" tIns="3427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9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40531" y="255824"/>
            <a:ext cx="82629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2400"/>
              <a:buFont typeface="PT Sans"/>
              <a:buNone/>
              <a:defRPr b="1" i="0" sz="2400" u="none" cap="none" strike="noStrike">
                <a:solidFill>
                  <a:srgbClr val="05336E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40531" y="897564"/>
            <a:ext cx="8262900" cy="3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000" lIns="5400" spcFirstLastPara="1" rIns="0" wrap="square" tIns="2700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5336E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05336E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indent="-3619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5336E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indent="-3619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5336E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indent="-3619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5336E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indent="-3619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5336E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65965" y="4804358"/>
            <a:ext cx="337500" cy="2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743">
          <p15:clr>
            <a:srgbClr val="F26B43"/>
          </p15:clr>
        </p15:guide>
        <p15:guide id="2" pos="397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Relationship Id="rId3" Type="http://schemas.openxmlformats.org/officeDocument/2006/relationships/hyperlink" Target="http://mongoengine.org/" TargetMode="External"/><Relationship Id="rId4" Type="http://schemas.openxmlformats.org/officeDocument/2006/relationships/image" Target="../media/image3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8.xml"/><Relationship Id="rId3" Type="http://schemas.openxmlformats.org/officeDocument/2006/relationships/hyperlink" Target="https://www.boost.org/libraries/latest/grid/" TargetMode="External"/><Relationship Id="rId4" Type="http://schemas.openxmlformats.org/officeDocument/2006/relationships/hyperlink" Target="http://mongoengine.org/" TargetMode="Externa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4"/>
          <p:cNvSpPr txBox="1"/>
          <p:nvPr>
            <p:ph type="ctrTitle"/>
          </p:nvPr>
        </p:nvSpPr>
        <p:spPr>
          <a:xfrm>
            <a:off x="676825" y="3142741"/>
            <a:ext cx="7885500" cy="1007400"/>
          </a:xfrm>
          <a:prstGeom prst="rect">
            <a:avLst/>
          </a:prstGeom>
        </p:spPr>
        <p:txBody>
          <a:bodyPr anchorCtr="0" anchor="ctr" bIns="27000" lIns="5400" spcFirstLastPara="1" rIns="0" wrap="square" tIns="270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Фреймворки и библиотеки: BOOST</a:t>
            </a:r>
            <a:endParaRPr/>
          </a:p>
        </p:txBody>
      </p:sp>
      <p:sp>
        <p:nvSpPr>
          <p:cNvPr id="87" name="Google Shape;87;p14"/>
          <p:cNvSpPr txBox="1"/>
          <p:nvPr>
            <p:ph idx="1" type="body"/>
          </p:nvPr>
        </p:nvSpPr>
        <p:spPr>
          <a:xfrm>
            <a:off x="629850" y="4354122"/>
            <a:ext cx="7885500" cy="396300"/>
          </a:xfrm>
          <a:prstGeom prst="rect">
            <a:avLst/>
          </a:prstGeom>
        </p:spPr>
        <p:txBody>
          <a:bodyPr anchorCtr="0" anchor="t" bIns="27000" lIns="5400" spcFirstLastPara="1" rIns="0" wrap="square" tIns="27000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4"/>
          <p:cNvSpPr txBox="1"/>
          <p:nvPr>
            <p:ph idx="2" type="body"/>
          </p:nvPr>
        </p:nvSpPr>
        <p:spPr>
          <a:xfrm>
            <a:off x="629841" y="2589257"/>
            <a:ext cx="7885500" cy="349500"/>
          </a:xfrm>
          <a:prstGeom prst="rect">
            <a:avLst/>
          </a:prstGeom>
        </p:spPr>
        <p:txBody>
          <a:bodyPr anchorCtr="0" anchor="b" bIns="27000" lIns="5400" spcFirstLastPara="1" rIns="0" wrap="square" tIns="27000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 txBox="1"/>
          <p:nvPr>
            <p:ph type="title"/>
          </p:nvPr>
        </p:nvSpPr>
        <p:spPr>
          <a:xfrm>
            <a:off x="440531" y="255824"/>
            <a:ext cx="8262900" cy="549000"/>
          </a:xfrm>
          <a:prstGeom prst="rect">
            <a:avLst/>
          </a:prstGeom>
        </p:spPr>
        <p:txBody>
          <a:bodyPr anchorCtr="0" anchor="ctr" bIns="27000" lIns="24300" spcFirstLastPara="1" rIns="0" wrap="square" tIns="270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Содержание занятия</a:t>
            </a:r>
            <a:endParaRPr/>
          </a:p>
        </p:txBody>
      </p:sp>
      <p:sp>
        <p:nvSpPr>
          <p:cNvPr id="94" name="Google Shape;94;p15"/>
          <p:cNvSpPr txBox="1"/>
          <p:nvPr>
            <p:ph idx="1" type="body"/>
          </p:nvPr>
        </p:nvSpPr>
        <p:spPr>
          <a:xfrm>
            <a:off x="440531" y="4788678"/>
            <a:ext cx="3375300" cy="273900"/>
          </a:xfrm>
          <a:prstGeom prst="rect">
            <a:avLst/>
          </a:prstGeom>
        </p:spPr>
        <p:txBody>
          <a:bodyPr anchorCtr="0" anchor="ctr" bIns="27000" lIns="24300" spcFirstLastPara="1" rIns="0" wrap="square" tIns="2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5"/>
          <p:cNvSpPr txBox="1"/>
          <p:nvPr>
            <p:ph idx="2" type="body"/>
          </p:nvPr>
        </p:nvSpPr>
        <p:spPr>
          <a:xfrm>
            <a:off x="440531" y="897564"/>
            <a:ext cx="8262900" cy="3564300"/>
          </a:xfrm>
          <a:prstGeom prst="rect">
            <a:avLst/>
          </a:prstGeom>
        </p:spPr>
        <p:txBody>
          <a:bodyPr anchorCtr="0" anchor="t" bIns="27000" lIns="5400" spcFirstLastPara="1" rIns="0" wrap="square" tIns="27000">
            <a:normAutofit/>
          </a:bodyPr>
          <a:lstStyle/>
          <a:p>
            <a:pPr indent="-36195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100"/>
              <a:buFont typeface="PT Sans"/>
              <a:buAutoNum type="arabicPeriod"/>
            </a:pPr>
            <a:r>
              <a:rPr lang="ru" sz="2200"/>
              <a:t>Что такое Boost.</a:t>
            </a:r>
            <a:endParaRPr sz="2200"/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AutoNum type="arabicPeriod"/>
            </a:pPr>
            <a:r>
              <a:rPr lang="ru" sz="2200"/>
              <a:t>Краткий обзор части Boost, реализованной в STL</a:t>
            </a:r>
            <a:r>
              <a:rPr lang="ru" sz="2200"/>
              <a:t>.</a:t>
            </a:r>
            <a:endParaRPr sz="2200"/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AutoNum type="arabicPeriod"/>
            </a:pPr>
            <a:r>
              <a:rPr lang="ru" sz="2200"/>
              <a:t>Boost.Asio.</a:t>
            </a:r>
            <a:endParaRPr sz="2200"/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AutoNum type="arabicPeriod"/>
            </a:pPr>
            <a:r>
              <a:rPr lang="ru" sz="2200"/>
              <a:t>Boost.Serialization.</a:t>
            </a:r>
            <a:endParaRPr sz="2200"/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AutoNum type="arabicPeriod"/>
            </a:pPr>
            <a:r>
              <a:rPr lang="ru" sz="2200"/>
              <a:t>Boost.Any и Boost.Variant / Boost.Optional</a:t>
            </a:r>
            <a:r>
              <a:rPr lang="ru" sz="2200"/>
              <a:t>.</a:t>
            </a:r>
            <a:endParaRPr sz="2200"/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AutoNum type="arabicPeriod"/>
            </a:pPr>
            <a:r>
              <a:rPr lang="ru" sz="2200"/>
              <a:t>Boost.Fusion и Boost.MPL.</a:t>
            </a:r>
            <a:endParaRPr sz="2200"/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AutoNum type="arabicPeriod"/>
            </a:pPr>
            <a:r>
              <a:rPr lang="ru" sz="2200"/>
              <a:t>Boost.Graph.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PT Sans"/>
              <a:buAutoNum type="arabicPeriod"/>
            </a:pPr>
            <a:r>
              <a:rPr lang="ru" sz="2200"/>
              <a:t>Boost.Log.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PT Sans"/>
              <a:buAutoNum type="arabicPeriod"/>
            </a:pPr>
            <a:r>
              <a:rPr lang="ru" sz="2200"/>
              <a:t>Полезные ссылки.</a:t>
            </a:r>
            <a:endParaRPr sz="2200"/>
          </a:p>
        </p:txBody>
      </p:sp>
      <p:sp>
        <p:nvSpPr>
          <p:cNvPr id="96" name="Google Shape;96;p15"/>
          <p:cNvSpPr txBox="1"/>
          <p:nvPr>
            <p:ph idx="12" type="sldNum"/>
          </p:nvPr>
        </p:nvSpPr>
        <p:spPr>
          <a:xfrm>
            <a:off x="8365965" y="4804358"/>
            <a:ext cx="337500" cy="251700"/>
          </a:xfrm>
          <a:prstGeom prst="rect">
            <a:avLst/>
          </a:prstGeom>
        </p:spPr>
        <p:txBody>
          <a:bodyPr anchorCtr="0" anchor="t" bIns="34275" lIns="0" spcFirstLastPara="1" rIns="0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6"/>
          <p:cNvSpPr txBox="1"/>
          <p:nvPr>
            <p:ph type="title"/>
          </p:nvPr>
        </p:nvSpPr>
        <p:spPr>
          <a:xfrm>
            <a:off x="440531" y="255824"/>
            <a:ext cx="8262900" cy="549000"/>
          </a:xfrm>
          <a:prstGeom prst="rect">
            <a:avLst/>
          </a:prstGeom>
        </p:spPr>
        <p:txBody>
          <a:bodyPr anchorCtr="0" anchor="ctr" bIns="27000" lIns="24300" spcFirstLastPara="1" rIns="0" wrap="square" tIns="270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Что такое Boost?</a:t>
            </a:r>
            <a:endParaRPr/>
          </a:p>
        </p:txBody>
      </p:sp>
      <p:sp>
        <p:nvSpPr>
          <p:cNvPr id="102" name="Google Shape;102;p16"/>
          <p:cNvSpPr txBox="1"/>
          <p:nvPr>
            <p:ph idx="1" type="body"/>
          </p:nvPr>
        </p:nvSpPr>
        <p:spPr>
          <a:xfrm>
            <a:off x="440531" y="4788678"/>
            <a:ext cx="3375300" cy="273900"/>
          </a:xfrm>
          <a:prstGeom prst="rect">
            <a:avLst/>
          </a:prstGeom>
        </p:spPr>
        <p:txBody>
          <a:bodyPr anchorCtr="0" anchor="ctr" bIns="27000" lIns="24300" spcFirstLastPara="1" rIns="0" wrap="square" tIns="2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6"/>
          <p:cNvSpPr txBox="1"/>
          <p:nvPr>
            <p:ph idx="2" type="body"/>
          </p:nvPr>
        </p:nvSpPr>
        <p:spPr>
          <a:xfrm>
            <a:off x="440525" y="897575"/>
            <a:ext cx="6208500" cy="3564300"/>
          </a:xfrm>
          <a:prstGeom prst="rect">
            <a:avLst/>
          </a:prstGeom>
        </p:spPr>
        <p:txBody>
          <a:bodyPr anchorCtr="0" anchor="t" bIns="27000" lIns="5400" spcFirstLastPara="1" rIns="0" wrap="square" tIns="27000">
            <a:normAutofit fontScale="85000" lnSpcReduction="20000"/>
          </a:bodyPr>
          <a:lstStyle/>
          <a:p>
            <a:pPr indent="-341947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ct val="95454"/>
              <a:buFont typeface="PT Sans"/>
              <a:buChar char="❖"/>
            </a:pPr>
            <a:r>
              <a:rPr lang="ru" sz="2200"/>
              <a:t>Boost — </a:t>
            </a:r>
            <a:r>
              <a:rPr lang="ru" sz="2200"/>
              <a:t>это собрание библиотек классов, созданных для расширения функциональности стандартов языка С++.</a:t>
            </a:r>
            <a:endParaRPr sz="2200"/>
          </a:p>
          <a:p>
            <a:pPr indent="-34194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95454"/>
              <a:buFont typeface="PT Sans"/>
              <a:buChar char="❖"/>
            </a:pPr>
            <a:r>
              <a:rPr lang="ru" sz="2200"/>
              <a:t>Boost предлагает:</a:t>
            </a:r>
            <a:endParaRPr sz="2200"/>
          </a:p>
          <a:p>
            <a:pPr indent="-32575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ru" sz="1800"/>
              <a:t>Более производительные инструменты для асинхронности и сетевого программирования (Boost.Asio)</a:t>
            </a:r>
            <a:endParaRPr sz="1800"/>
          </a:p>
          <a:p>
            <a:pPr indent="-32575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ru" sz="1800"/>
              <a:t>Универсальные контейнеры для работы с разнородными данными (Boost.Any, Boost.Variant)</a:t>
            </a:r>
            <a:endParaRPr sz="1800"/>
          </a:p>
          <a:p>
            <a:pPr indent="-32575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ru" sz="1800"/>
              <a:t>Инструменты для метапрограммирования и работы со сложными компиляционными техниками (Boost.MPL, Boost.Fusion)</a:t>
            </a:r>
            <a:endParaRPr sz="1800"/>
          </a:p>
          <a:p>
            <a:pPr indent="-32575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ru" sz="1800"/>
              <a:t>Высокоуровневые библиотеки для сериализации объектов (Boost.Serialization)</a:t>
            </a:r>
            <a:endParaRPr sz="1800"/>
          </a:p>
          <a:p>
            <a:pPr indent="-32575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ru" sz="1800"/>
              <a:t>Алгоритмы и структуры данных, отсутствующие в std (Boost.Graph)</a:t>
            </a:r>
            <a:endParaRPr sz="1800"/>
          </a:p>
          <a:p>
            <a:pPr indent="-32575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ru" sz="1800"/>
              <a:t>Гибкие и масштабируемые инструменты логирования (Boost.Log)</a:t>
            </a:r>
            <a:endParaRPr sz="1800"/>
          </a:p>
        </p:txBody>
      </p:sp>
      <p:sp>
        <p:nvSpPr>
          <p:cNvPr id="104" name="Google Shape;104;p16"/>
          <p:cNvSpPr txBox="1"/>
          <p:nvPr>
            <p:ph idx="12" type="sldNum"/>
          </p:nvPr>
        </p:nvSpPr>
        <p:spPr>
          <a:xfrm>
            <a:off x="8365965" y="4804358"/>
            <a:ext cx="337500" cy="251700"/>
          </a:xfrm>
          <a:prstGeom prst="rect">
            <a:avLst/>
          </a:prstGeom>
        </p:spPr>
        <p:txBody>
          <a:bodyPr anchorCtr="0" anchor="t" bIns="34275" lIns="0" spcFirstLastPara="1" rIns="0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105" name="Google Shape;10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47275" y="1500186"/>
            <a:ext cx="2143125" cy="214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>
            <p:ph type="title"/>
          </p:nvPr>
        </p:nvSpPr>
        <p:spPr>
          <a:xfrm>
            <a:off x="440531" y="255824"/>
            <a:ext cx="8262900" cy="549000"/>
          </a:xfrm>
          <a:prstGeom prst="rect">
            <a:avLst/>
          </a:prstGeom>
        </p:spPr>
        <p:txBody>
          <a:bodyPr anchorCtr="0" anchor="ctr" bIns="27000" lIns="24300" spcFirstLastPara="1" rIns="0" wrap="square" tIns="270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Установка Boost</a:t>
            </a:r>
            <a:r>
              <a:rPr lang="ru"/>
              <a:t> (Windows)</a:t>
            </a:r>
            <a:endParaRPr/>
          </a:p>
        </p:txBody>
      </p:sp>
      <p:sp>
        <p:nvSpPr>
          <p:cNvPr id="111" name="Google Shape;111;p17"/>
          <p:cNvSpPr txBox="1"/>
          <p:nvPr>
            <p:ph idx="12" type="sldNum"/>
          </p:nvPr>
        </p:nvSpPr>
        <p:spPr>
          <a:xfrm>
            <a:off x="8365965" y="4804358"/>
            <a:ext cx="337500" cy="251700"/>
          </a:xfrm>
          <a:prstGeom prst="rect">
            <a:avLst/>
          </a:prstGeom>
        </p:spPr>
        <p:txBody>
          <a:bodyPr anchorCtr="0" anchor="t" bIns="34275" lIns="0" spcFirstLastPara="1" rIns="0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12" name="Google Shape;112;p17"/>
          <p:cNvSpPr txBox="1"/>
          <p:nvPr>
            <p:ph idx="1" type="body"/>
          </p:nvPr>
        </p:nvSpPr>
        <p:spPr>
          <a:xfrm>
            <a:off x="440531" y="4788678"/>
            <a:ext cx="3375300" cy="273900"/>
          </a:xfrm>
          <a:prstGeom prst="rect">
            <a:avLst/>
          </a:prstGeom>
        </p:spPr>
        <p:txBody>
          <a:bodyPr anchorCtr="0" anchor="ctr" bIns="27000" lIns="24300" spcFirstLastPara="1" rIns="0" wrap="square" tIns="2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7"/>
          <p:cNvSpPr txBox="1"/>
          <p:nvPr>
            <p:ph idx="2" type="body"/>
          </p:nvPr>
        </p:nvSpPr>
        <p:spPr>
          <a:xfrm>
            <a:off x="440531" y="897564"/>
            <a:ext cx="8262900" cy="3564300"/>
          </a:xfrm>
          <a:prstGeom prst="rect">
            <a:avLst/>
          </a:prstGeom>
        </p:spPr>
        <p:txBody>
          <a:bodyPr anchorCtr="0" anchor="t" bIns="27000" lIns="5400" spcFirstLastPara="1" rIns="0" wrap="square" tIns="27000">
            <a:normAutofit lnSpcReduction="20000"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PT Sans"/>
              <a:buChar char="❖"/>
            </a:pPr>
            <a:r>
              <a:rPr b="1" lang="ru" sz="2200">
                <a:solidFill>
                  <a:schemeClr val="dk1"/>
                </a:solidFill>
              </a:rPr>
              <a:t>Откр</a:t>
            </a:r>
            <a:r>
              <a:rPr b="1" lang="ru" sz="2200">
                <a:solidFill>
                  <a:schemeClr val="dk1"/>
                </a:solidFill>
              </a:rPr>
              <a:t>ыть консоль MSYS2 (через которую уже устанавливался C++ на занятии по IDE) и ввести команду:</a:t>
            </a:r>
            <a:endParaRPr b="1" sz="2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ru" sz="2200">
                <a:solidFill>
                  <a:schemeClr val="dk1"/>
                </a:solidFill>
              </a:rPr>
              <a:t>pacman -S mingw-w64-ucrt-x86_64-boost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PT Sans"/>
              <a:buChar char="❖"/>
            </a:pPr>
            <a:r>
              <a:rPr b="1" lang="ru" sz="2200">
                <a:solidFill>
                  <a:schemeClr val="dk1"/>
                </a:solidFill>
              </a:rPr>
              <a:t>После создания </a:t>
            </a:r>
            <a:r>
              <a:rPr b="1" lang="ru" sz="2200">
                <a:solidFill>
                  <a:schemeClr val="dk1"/>
                </a:solidFill>
              </a:rPr>
              <a:t>tasks.json</a:t>
            </a:r>
            <a:r>
              <a:rPr b="1" lang="ru" sz="2200">
                <a:solidFill>
                  <a:schemeClr val="dk1"/>
                </a:solidFill>
              </a:rPr>
              <a:t> добавить в раздел args (данные флаги запуска нужны для работ подбиблиотек boost asio и serialization):</a:t>
            </a:r>
            <a:endParaRPr b="1" sz="2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ru" sz="2200">
                <a:solidFill>
                  <a:schemeClr val="dk1"/>
                </a:solidFill>
              </a:rPr>
              <a:t>"-lws2_32",</a:t>
            </a:r>
            <a:endParaRPr sz="2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ru" sz="2200">
                <a:solidFill>
                  <a:schemeClr val="dk1"/>
                </a:solidFill>
              </a:rPr>
              <a:t>"-lmswsock"</a:t>
            </a:r>
            <a:endParaRPr sz="2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ru" sz="2200">
                <a:solidFill>
                  <a:schemeClr val="dk1"/>
                </a:solidFill>
              </a:rPr>
              <a:t>"-lboost_serialization-mt"</a:t>
            </a:r>
            <a:endParaRPr sz="2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8"/>
          <p:cNvSpPr txBox="1"/>
          <p:nvPr>
            <p:ph type="title"/>
          </p:nvPr>
        </p:nvSpPr>
        <p:spPr>
          <a:xfrm>
            <a:off x="440531" y="255824"/>
            <a:ext cx="8262900" cy="549000"/>
          </a:xfrm>
          <a:prstGeom prst="rect">
            <a:avLst/>
          </a:prstGeom>
        </p:spPr>
        <p:txBody>
          <a:bodyPr anchorCtr="0" anchor="ctr" bIns="27000" lIns="24300" spcFirstLastPara="1" rIns="0" wrap="square" tIns="270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Установка Boost (Windows)</a:t>
            </a:r>
            <a:endParaRPr/>
          </a:p>
        </p:txBody>
      </p:sp>
      <p:sp>
        <p:nvSpPr>
          <p:cNvPr id="119" name="Google Shape;119;p18"/>
          <p:cNvSpPr txBox="1"/>
          <p:nvPr>
            <p:ph idx="12" type="sldNum"/>
          </p:nvPr>
        </p:nvSpPr>
        <p:spPr>
          <a:xfrm>
            <a:off x="8365965" y="4804358"/>
            <a:ext cx="337500" cy="251700"/>
          </a:xfrm>
          <a:prstGeom prst="rect">
            <a:avLst/>
          </a:prstGeom>
        </p:spPr>
        <p:txBody>
          <a:bodyPr anchorCtr="0" anchor="t" bIns="34275" lIns="0" spcFirstLastPara="1" rIns="0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20" name="Google Shape;120;p18"/>
          <p:cNvSpPr txBox="1"/>
          <p:nvPr>
            <p:ph idx="1" type="body"/>
          </p:nvPr>
        </p:nvSpPr>
        <p:spPr>
          <a:xfrm>
            <a:off x="440531" y="4788678"/>
            <a:ext cx="3375300" cy="273900"/>
          </a:xfrm>
          <a:prstGeom prst="rect">
            <a:avLst/>
          </a:prstGeom>
        </p:spPr>
        <p:txBody>
          <a:bodyPr anchorCtr="0" anchor="ctr" bIns="27000" lIns="24300" spcFirstLastPara="1" rIns="0" wrap="square" tIns="2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8"/>
          <p:cNvSpPr txBox="1"/>
          <p:nvPr>
            <p:ph idx="2" type="body"/>
          </p:nvPr>
        </p:nvSpPr>
        <p:spPr>
          <a:xfrm>
            <a:off x="440531" y="897564"/>
            <a:ext cx="8262900" cy="3564300"/>
          </a:xfrm>
          <a:prstGeom prst="rect">
            <a:avLst/>
          </a:prstGeom>
        </p:spPr>
        <p:txBody>
          <a:bodyPr anchorCtr="0" anchor="t" bIns="27000" lIns="5400" spcFirstLastPara="1" rIns="0" wrap="square" tIns="27000">
            <a:normAutofit fontScale="92500" lnSpcReduction="20000"/>
          </a:bodyPr>
          <a:lstStyle/>
          <a:p>
            <a:pPr indent="-357822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T Sans"/>
              <a:buChar char="❖"/>
            </a:pPr>
            <a:r>
              <a:rPr b="1" lang="ru" sz="2200">
                <a:solidFill>
                  <a:schemeClr val="dk1"/>
                </a:solidFill>
              </a:rPr>
              <a:t>Пример вида файла tasks.json: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ru" sz="1350">
                <a:solidFill>
                  <a:srgbClr val="0451A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"tasks"</a:t>
            </a:r>
            <a:r>
              <a:rPr lang="ru" sz="13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[</a:t>
            </a:r>
            <a:endParaRPr sz="13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{</a:t>
            </a:r>
            <a:endParaRPr sz="13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</a:t>
            </a:r>
            <a:r>
              <a:rPr lang="ru" sz="1350">
                <a:solidFill>
                  <a:srgbClr val="0451A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"type"</a:t>
            </a:r>
            <a:r>
              <a:rPr lang="ru" sz="13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ru" sz="13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"cppbuild"</a:t>
            </a:r>
            <a:r>
              <a:rPr lang="ru" sz="13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3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</a:t>
            </a:r>
            <a:r>
              <a:rPr lang="ru" sz="1350">
                <a:solidFill>
                  <a:srgbClr val="0451A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"label"</a:t>
            </a:r>
            <a:r>
              <a:rPr lang="ru" sz="13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ru" sz="13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"C/C++: g++.exe build active file"</a:t>
            </a:r>
            <a:r>
              <a:rPr lang="ru" sz="13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3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</a:t>
            </a:r>
            <a:r>
              <a:rPr lang="ru" sz="1350">
                <a:solidFill>
                  <a:srgbClr val="0451A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"command"</a:t>
            </a:r>
            <a:r>
              <a:rPr lang="ru" sz="13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ru" sz="13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"C:</a:t>
            </a:r>
            <a:r>
              <a:rPr lang="ru" sz="1350">
                <a:solidFill>
                  <a:srgbClr val="EE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\\</a:t>
            </a:r>
            <a:r>
              <a:rPr lang="ru" sz="13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msys64</a:t>
            </a:r>
            <a:r>
              <a:rPr lang="ru" sz="1350">
                <a:solidFill>
                  <a:srgbClr val="EE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\\</a:t>
            </a:r>
            <a:r>
              <a:rPr lang="ru" sz="13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ucrt64</a:t>
            </a:r>
            <a:r>
              <a:rPr lang="ru" sz="1350">
                <a:solidFill>
                  <a:srgbClr val="EE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\\</a:t>
            </a:r>
            <a:r>
              <a:rPr lang="ru" sz="13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bin</a:t>
            </a:r>
            <a:r>
              <a:rPr lang="ru" sz="1350">
                <a:solidFill>
                  <a:srgbClr val="EE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\\</a:t>
            </a:r>
            <a:r>
              <a:rPr lang="ru" sz="13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g++.exe"</a:t>
            </a:r>
            <a:r>
              <a:rPr lang="ru" sz="13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3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</a:t>
            </a:r>
            <a:r>
              <a:rPr lang="ru" sz="1350">
                <a:solidFill>
                  <a:srgbClr val="0451A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"args"</a:t>
            </a:r>
            <a:r>
              <a:rPr lang="ru" sz="13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[</a:t>
            </a:r>
            <a:endParaRPr sz="13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ru" sz="13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"-fdiagnostics-color=always"</a:t>
            </a:r>
            <a:r>
              <a:rPr lang="ru" sz="13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3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ru" sz="13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"-g"</a:t>
            </a:r>
            <a:r>
              <a:rPr lang="ru" sz="13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3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ru" sz="13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"${file}"</a:t>
            </a:r>
            <a:r>
              <a:rPr lang="ru" sz="13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3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ru" sz="13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"-o"</a:t>
            </a:r>
            <a:r>
              <a:rPr lang="ru" sz="13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3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ru" sz="13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"${fileDirname}</a:t>
            </a:r>
            <a:r>
              <a:rPr lang="ru" sz="1350">
                <a:solidFill>
                  <a:srgbClr val="EE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\\</a:t>
            </a:r>
            <a:r>
              <a:rPr lang="ru" sz="13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${fileBasenameNoExtension}.exe"</a:t>
            </a:r>
            <a:r>
              <a:rPr lang="ru" sz="13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3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ru" sz="13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"-lws2_32"</a:t>
            </a:r>
            <a:r>
              <a:rPr lang="ru" sz="13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3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ru" sz="13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"-lmswsock"</a:t>
            </a:r>
            <a:r>
              <a:rPr lang="ru" sz="13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35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   "-lboost_serialization-mt"</a:t>
            </a:r>
            <a:endParaRPr sz="1350">
              <a:solidFill>
                <a:srgbClr val="A31515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],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9"/>
          <p:cNvSpPr txBox="1"/>
          <p:nvPr>
            <p:ph type="title"/>
          </p:nvPr>
        </p:nvSpPr>
        <p:spPr>
          <a:xfrm>
            <a:off x="440531" y="255824"/>
            <a:ext cx="8262900" cy="549000"/>
          </a:xfrm>
          <a:prstGeom prst="rect">
            <a:avLst/>
          </a:prstGeom>
        </p:spPr>
        <p:txBody>
          <a:bodyPr anchorCtr="0" anchor="ctr" bIns="27000" lIns="24300" spcFirstLastPara="1" rIns="0" wrap="square" tIns="270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Установка Boost (Windows)</a:t>
            </a:r>
            <a:endParaRPr/>
          </a:p>
        </p:txBody>
      </p:sp>
      <p:sp>
        <p:nvSpPr>
          <p:cNvPr id="127" name="Google Shape;127;p19"/>
          <p:cNvSpPr txBox="1"/>
          <p:nvPr>
            <p:ph idx="12" type="sldNum"/>
          </p:nvPr>
        </p:nvSpPr>
        <p:spPr>
          <a:xfrm>
            <a:off x="8365965" y="4804358"/>
            <a:ext cx="337500" cy="251700"/>
          </a:xfrm>
          <a:prstGeom prst="rect">
            <a:avLst/>
          </a:prstGeom>
        </p:spPr>
        <p:txBody>
          <a:bodyPr anchorCtr="0" anchor="t" bIns="34275" lIns="0" spcFirstLastPara="1" rIns="0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28" name="Google Shape;128;p19"/>
          <p:cNvSpPr txBox="1"/>
          <p:nvPr>
            <p:ph idx="1" type="body"/>
          </p:nvPr>
        </p:nvSpPr>
        <p:spPr>
          <a:xfrm>
            <a:off x="440531" y="4788678"/>
            <a:ext cx="3375300" cy="273900"/>
          </a:xfrm>
          <a:prstGeom prst="rect">
            <a:avLst/>
          </a:prstGeom>
        </p:spPr>
        <p:txBody>
          <a:bodyPr anchorCtr="0" anchor="ctr" bIns="27000" lIns="24300" spcFirstLastPara="1" rIns="0" wrap="square" tIns="2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9"/>
          <p:cNvSpPr txBox="1"/>
          <p:nvPr>
            <p:ph idx="2" type="body"/>
          </p:nvPr>
        </p:nvSpPr>
        <p:spPr>
          <a:xfrm>
            <a:off x="440531" y="897564"/>
            <a:ext cx="8262900" cy="3564300"/>
          </a:xfrm>
          <a:prstGeom prst="rect">
            <a:avLst/>
          </a:prstGeom>
        </p:spPr>
        <p:txBody>
          <a:bodyPr anchorCtr="0" anchor="t" bIns="27000" lIns="5400" spcFirstLastPara="1" rIns="0" wrap="square" tIns="27000">
            <a:normAutofit fontScale="92500" lnSpcReduction="20000"/>
          </a:bodyPr>
          <a:lstStyle/>
          <a:p>
            <a:pPr indent="-357822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T Sans"/>
              <a:buChar char="❖"/>
            </a:pPr>
            <a:r>
              <a:rPr b="1" lang="ru" sz="2200">
                <a:solidFill>
                  <a:schemeClr val="dk1"/>
                </a:solidFill>
              </a:rPr>
              <a:t>Пример вида файла tasks.json:</a:t>
            </a:r>
            <a:endParaRPr sz="13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</a:t>
            </a:r>
            <a:r>
              <a:rPr lang="ru" sz="1350">
                <a:solidFill>
                  <a:srgbClr val="0451A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"options"</a:t>
            </a:r>
            <a:r>
              <a:rPr lang="ru" sz="13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{</a:t>
            </a:r>
            <a:endParaRPr sz="13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ru" sz="1350">
                <a:solidFill>
                  <a:srgbClr val="0451A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"cwd"</a:t>
            </a:r>
            <a:r>
              <a:rPr lang="ru" sz="13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ru" sz="13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"${fileDirname}"</a:t>
            </a:r>
            <a:endParaRPr sz="1350">
              <a:solidFill>
                <a:srgbClr val="A31515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},</a:t>
            </a:r>
            <a:endParaRPr sz="13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</a:t>
            </a:r>
            <a:r>
              <a:rPr lang="ru" sz="1350">
                <a:solidFill>
                  <a:srgbClr val="0451A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"problemMatcher"</a:t>
            </a:r>
            <a:r>
              <a:rPr lang="ru" sz="13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[</a:t>
            </a:r>
            <a:r>
              <a:rPr lang="ru" sz="13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"$gcc"</a:t>
            </a:r>
            <a:r>
              <a:rPr lang="ru" sz="13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],</a:t>
            </a:r>
            <a:endParaRPr sz="13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</a:t>
            </a:r>
            <a:r>
              <a:rPr lang="ru" sz="1350">
                <a:solidFill>
                  <a:srgbClr val="0451A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"group"</a:t>
            </a:r>
            <a:r>
              <a:rPr lang="ru" sz="13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{</a:t>
            </a:r>
            <a:endParaRPr sz="13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ru" sz="1350">
                <a:solidFill>
                  <a:srgbClr val="0451A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"kind"</a:t>
            </a:r>
            <a:r>
              <a:rPr lang="ru" sz="13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ru" sz="13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"build"</a:t>
            </a:r>
            <a:r>
              <a:rPr lang="ru" sz="13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3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ru" sz="1350">
                <a:solidFill>
                  <a:srgbClr val="0451A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"isDefault"</a:t>
            </a:r>
            <a:r>
              <a:rPr lang="ru" sz="13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ru" sz="13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endParaRPr sz="1350">
              <a:solidFill>
                <a:srgbClr val="0000F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},</a:t>
            </a:r>
            <a:endParaRPr sz="13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</a:t>
            </a:r>
            <a:r>
              <a:rPr lang="ru" sz="1350">
                <a:solidFill>
                  <a:srgbClr val="0451A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"detail"</a:t>
            </a:r>
            <a:r>
              <a:rPr lang="ru" sz="13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ru" sz="13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"Task generated by Debugger."</a:t>
            </a:r>
            <a:endParaRPr sz="1350">
              <a:solidFill>
                <a:srgbClr val="A31515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13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],</a:t>
            </a:r>
            <a:endParaRPr sz="13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ru" sz="1350">
                <a:solidFill>
                  <a:srgbClr val="0451A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"version"</a:t>
            </a:r>
            <a:r>
              <a:rPr lang="ru" sz="13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ru" sz="13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"2.0.0"</a:t>
            </a:r>
            <a:endParaRPr sz="1350">
              <a:solidFill>
                <a:srgbClr val="A31515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3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0"/>
          <p:cNvSpPr txBox="1"/>
          <p:nvPr>
            <p:ph type="title"/>
          </p:nvPr>
        </p:nvSpPr>
        <p:spPr>
          <a:xfrm>
            <a:off x="440531" y="255824"/>
            <a:ext cx="8262900" cy="549000"/>
          </a:xfrm>
          <a:prstGeom prst="rect">
            <a:avLst/>
          </a:prstGeom>
        </p:spPr>
        <p:txBody>
          <a:bodyPr anchorCtr="0" anchor="ctr" bIns="27000" lIns="24300" spcFirstLastPara="1" rIns="0" wrap="square" tIns="270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Установка Boost (Linux)</a:t>
            </a:r>
            <a:endParaRPr/>
          </a:p>
        </p:txBody>
      </p:sp>
      <p:sp>
        <p:nvSpPr>
          <p:cNvPr id="135" name="Google Shape;135;p20"/>
          <p:cNvSpPr txBox="1"/>
          <p:nvPr>
            <p:ph idx="12" type="sldNum"/>
          </p:nvPr>
        </p:nvSpPr>
        <p:spPr>
          <a:xfrm>
            <a:off x="8365965" y="4804358"/>
            <a:ext cx="337500" cy="251700"/>
          </a:xfrm>
          <a:prstGeom prst="rect">
            <a:avLst/>
          </a:prstGeom>
        </p:spPr>
        <p:txBody>
          <a:bodyPr anchorCtr="0" anchor="t" bIns="34275" lIns="0" spcFirstLastPara="1" rIns="0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36" name="Google Shape;136;p20"/>
          <p:cNvSpPr txBox="1"/>
          <p:nvPr>
            <p:ph idx="1" type="body"/>
          </p:nvPr>
        </p:nvSpPr>
        <p:spPr>
          <a:xfrm>
            <a:off x="440531" y="4788678"/>
            <a:ext cx="3375300" cy="273900"/>
          </a:xfrm>
          <a:prstGeom prst="rect">
            <a:avLst/>
          </a:prstGeom>
        </p:spPr>
        <p:txBody>
          <a:bodyPr anchorCtr="0" anchor="ctr" bIns="27000" lIns="24300" spcFirstLastPara="1" rIns="0" wrap="square" tIns="2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20"/>
          <p:cNvSpPr txBox="1"/>
          <p:nvPr>
            <p:ph idx="2" type="body"/>
          </p:nvPr>
        </p:nvSpPr>
        <p:spPr>
          <a:xfrm>
            <a:off x="440531" y="897564"/>
            <a:ext cx="8262900" cy="3564300"/>
          </a:xfrm>
          <a:prstGeom prst="rect">
            <a:avLst/>
          </a:prstGeom>
        </p:spPr>
        <p:txBody>
          <a:bodyPr anchorCtr="0" anchor="t" bIns="27000" lIns="5400" spcFirstLastPara="1" rIns="0" wrap="square" tIns="27000">
            <a:normAutofit lnSpcReduction="10000"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PT Sans"/>
              <a:buChar char="❖"/>
            </a:pPr>
            <a:r>
              <a:rPr b="1" lang="ru" sz="2200">
                <a:solidFill>
                  <a:schemeClr val="dk1"/>
                </a:solidFill>
              </a:rPr>
              <a:t>Открыть консоль и ввести команду</a:t>
            </a:r>
            <a:endParaRPr b="1" sz="2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ru" sz="2200">
                <a:solidFill>
                  <a:schemeClr val="dk1"/>
                </a:solidFill>
              </a:rPr>
              <a:t>sudo apt update &amp;&amp; sudo apt install libboost-all-dev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PT Sans"/>
              <a:buChar char="❖"/>
            </a:pPr>
            <a:r>
              <a:rPr b="1" lang="ru" sz="2200">
                <a:solidFill>
                  <a:schemeClr val="dk1"/>
                </a:solidFill>
              </a:rPr>
              <a:t>После создания </a:t>
            </a:r>
            <a:r>
              <a:rPr b="1" lang="ru" sz="2200">
                <a:solidFill>
                  <a:schemeClr val="dk1"/>
                </a:solidFill>
              </a:rPr>
              <a:t>tasks.json</a:t>
            </a:r>
            <a:r>
              <a:rPr b="1" lang="ru" sz="2200">
                <a:solidFill>
                  <a:schemeClr val="dk1"/>
                </a:solidFill>
              </a:rPr>
              <a:t> добавить в раздел args (данные флаги запуска нужны для работ подбиблиотек boost asio и serialization):</a:t>
            </a:r>
            <a:endParaRPr b="1" sz="2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ru" sz="2200">
                <a:solidFill>
                  <a:schemeClr val="dk1"/>
                </a:solidFill>
              </a:rPr>
              <a:t>"-pthread",</a:t>
            </a:r>
            <a:endParaRPr sz="2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ru" sz="2200">
                <a:solidFill>
                  <a:schemeClr val="dk1"/>
                </a:solidFill>
              </a:rPr>
              <a:t>"-lboost_serialization"</a:t>
            </a:r>
            <a:endParaRPr sz="2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1"/>
          <p:cNvSpPr txBox="1"/>
          <p:nvPr>
            <p:ph type="title"/>
          </p:nvPr>
        </p:nvSpPr>
        <p:spPr>
          <a:xfrm>
            <a:off x="440531" y="255824"/>
            <a:ext cx="8262900" cy="549000"/>
          </a:xfrm>
          <a:prstGeom prst="rect">
            <a:avLst/>
          </a:prstGeom>
        </p:spPr>
        <p:txBody>
          <a:bodyPr anchorCtr="0" anchor="ctr" bIns="27000" lIns="24300" spcFirstLastPara="1" rIns="0" wrap="square" tIns="270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Установка Boost (</a:t>
            </a:r>
            <a:r>
              <a:rPr lang="ru">
                <a:solidFill>
                  <a:schemeClr val="dk1"/>
                </a:solidFill>
              </a:rPr>
              <a:t>Linux</a:t>
            </a:r>
            <a:r>
              <a:rPr lang="ru"/>
              <a:t>)</a:t>
            </a:r>
            <a:endParaRPr/>
          </a:p>
        </p:txBody>
      </p:sp>
      <p:sp>
        <p:nvSpPr>
          <p:cNvPr id="143" name="Google Shape;143;p21"/>
          <p:cNvSpPr txBox="1"/>
          <p:nvPr>
            <p:ph idx="12" type="sldNum"/>
          </p:nvPr>
        </p:nvSpPr>
        <p:spPr>
          <a:xfrm>
            <a:off x="8365965" y="4804358"/>
            <a:ext cx="337500" cy="251700"/>
          </a:xfrm>
          <a:prstGeom prst="rect">
            <a:avLst/>
          </a:prstGeom>
        </p:spPr>
        <p:txBody>
          <a:bodyPr anchorCtr="0" anchor="t" bIns="34275" lIns="0" spcFirstLastPara="1" rIns="0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44" name="Google Shape;144;p21"/>
          <p:cNvSpPr txBox="1"/>
          <p:nvPr>
            <p:ph idx="1" type="body"/>
          </p:nvPr>
        </p:nvSpPr>
        <p:spPr>
          <a:xfrm>
            <a:off x="440531" y="4788678"/>
            <a:ext cx="3375300" cy="273900"/>
          </a:xfrm>
          <a:prstGeom prst="rect">
            <a:avLst/>
          </a:prstGeom>
        </p:spPr>
        <p:txBody>
          <a:bodyPr anchorCtr="0" anchor="ctr" bIns="27000" lIns="24300" spcFirstLastPara="1" rIns="0" wrap="square" tIns="2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21"/>
          <p:cNvSpPr txBox="1"/>
          <p:nvPr>
            <p:ph idx="2" type="body"/>
          </p:nvPr>
        </p:nvSpPr>
        <p:spPr>
          <a:xfrm>
            <a:off x="440531" y="897564"/>
            <a:ext cx="8262900" cy="3564300"/>
          </a:xfrm>
          <a:prstGeom prst="rect">
            <a:avLst/>
          </a:prstGeom>
        </p:spPr>
        <p:txBody>
          <a:bodyPr anchorCtr="0" anchor="t" bIns="27000" lIns="5400" spcFirstLastPara="1" rIns="0" wrap="square" tIns="27000">
            <a:normAutofit fontScale="92500" lnSpcReduction="20000"/>
          </a:bodyPr>
          <a:lstStyle/>
          <a:p>
            <a:pPr indent="-357822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T Sans"/>
              <a:buChar char="❖"/>
            </a:pPr>
            <a:r>
              <a:rPr b="1" lang="ru" sz="2200">
                <a:solidFill>
                  <a:schemeClr val="dk1"/>
                </a:solidFill>
              </a:rPr>
              <a:t>Пример вида файла tasks.json: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3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1350">
                <a:solidFill>
                  <a:srgbClr val="0451A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"tasks"</a:t>
            </a:r>
            <a:r>
              <a:rPr lang="ru" sz="13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[</a:t>
            </a:r>
            <a:endParaRPr sz="13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{</a:t>
            </a:r>
            <a:endParaRPr sz="13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r>
              <a:rPr lang="ru" sz="1350">
                <a:solidFill>
                  <a:srgbClr val="0451A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"type"</a:t>
            </a:r>
            <a:r>
              <a:rPr lang="ru" sz="13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ru" sz="13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"cppbuild"</a:t>
            </a:r>
            <a:r>
              <a:rPr lang="ru" sz="13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3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r>
              <a:rPr lang="ru" sz="1350">
                <a:solidFill>
                  <a:srgbClr val="0451A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"label"</a:t>
            </a:r>
            <a:r>
              <a:rPr lang="ru" sz="13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ru" sz="13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"C/C++: g++ build active file"</a:t>
            </a:r>
            <a:r>
              <a:rPr lang="ru" sz="13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3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r>
              <a:rPr lang="ru" sz="1350">
                <a:solidFill>
                  <a:srgbClr val="0451A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"command"</a:t>
            </a:r>
            <a:r>
              <a:rPr lang="ru" sz="13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ru" sz="13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"/usr/bin/g++"</a:t>
            </a:r>
            <a:r>
              <a:rPr lang="ru" sz="13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3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r>
              <a:rPr lang="ru" sz="1350">
                <a:solidFill>
                  <a:srgbClr val="0451A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"args"</a:t>
            </a:r>
            <a:r>
              <a:rPr lang="ru" sz="13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[</a:t>
            </a:r>
            <a:endParaRPr sz="13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</a:t>
            </a:r>
            <a:r>
              <a:rPr lang="ru" sz="13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"-fdiagnostics-color=always"</a:t>
            </a:r>
            <a:r>
              <a:rPr lang="ru" sz="13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3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</a:t>
            </a:r>
            <a:r>
              <a:rPr lang="ru" sz="13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"-g"</a:t>
            </a:r>
            <a:r>
              <a:rPr lang="ru" sz="13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3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</a:t>
            </a:r>
            <a:r>
              <a:rPr lang="ru" sz="13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"${file}"</a:t>
            </a:r>
            <a:r>
              <a:rPr lang="ru" sz="13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3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</a:t>
            </a:r>
            <a:r>
              <a:rPr lang="ru" sz="13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"-o"</a:t>
            </a:r>
            <a:r>
              <a:rPr lang="ru" sz="13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3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</a:t>
            </a:r>
            <a:r>
              <a:rPr lang="ru" sz="13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"${fileDirname}/${fileBasenameNoExtension}"</a:t>
            </a:r>
            <a:r>
              <a:rPr lang="ru" sz="13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3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</a:t>
            </a:r>
            <a:r>
              <a:rPr lang="ru" sz="13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"-pthread"</a:t>
            </a:r>
            <a:r>
              <a:rPr lang="ru" sz="13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3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</a:t>
            </a:r>
            <a:r>
              <a:rPr lang="ru" sz="13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"-lboost_serialization"</a:t>
            </a:r>
            <a:endParaRPr sz="1350">
              <a:solidFill>
                <a:srgbClr val="A31515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],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2"/>
          <p:cNvSpPr txBox="1"/>
          <p:nvPr>
            <p:ph type="title"/>
          </p:nvPr>
        </p:nvSpPr>
        <p:spPr>
          <a:xfrm>
            <a:off x="440531" y="255824"/>
            <a:ext cx="8262900" cy="549000"/>
          </a:xfrm>
          <a:prstGeom prst="rect">
            <a:avLst/>
          </a:prstGeom>
        </p:spPr>
        <p:txBody>
          <a:bodyPr anchorCtr="0" anchor="ctr" bIns="27000" lIns="24300" spcFirstLastPara="1" rIns="0" wrap="square" tIns="270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Установка Boost (</a:t>
            </a:r>
            <a:r>
              <a:rPr lang="ru">
                <a:solidFill>
                  <a:schemeClr val="dk1"/>
                </a:solidFill>
              </a:rPr>
              <a:t>Linux</a:t>
            </a:r>
            <a:r>
              <a:rPr lang="ru"/>
              <a:t>)</a:t>
            </a:r>
            <a:endParaRPr/>
          </a:p>
        </p:txBody>
      </p:sp>
      <p:sp>
        <p:nvSpPr>
          <p:cNvPr id="151" name="Google Shape;151;p22"/>
          <p:cNvSpPr txBox="1"/>
          <p:nvPr>
            <p:ph idx="12" type="sldNum"/>
          </p:nvPr>
        </p:nvSpPr>
        <p:spPr>
          <a:xfrm>
            <a:off x="8365965" y="4804358"/>
            <a:ext cx="337500" cy="251700"/>
          </a:xfrm>
          <a:prstGeom prst="rect">
            <a:avLst/>
          </a:prstGeom>
        </p:spPr>
        <p:txBody>
          <a:bodyPr anchorCtr="0" anchor="t" bIns="34275" lIns="0" spcFirstLastPara="1" rIns="0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52" name="Google Shape;152;p22"/>
          <p:cNvSpPr txBox="1"/>
          <p:nvPr>
            <p:ph idx="1" type="body"/>
          </p:nvPr>
        </p:nvSpPr>
        <p:spPr>
          <a:xfrm>
            <a:off x="440531" y="4788678"/>
            <a:ext cx="3375300" cy="273900"/>
          </a:xfrm>
          <a:prstGeom prst="rect">
            <a:avLst/>
          </a:prstGeom>
        </p:spPr>
        <p:txBody>
          <a:bodyPr anchorCtr="0" anchor="ctr" bIns="27000" lIns="24300" spcFirstLastPara="1" rIns="0" wrap="square" tIns="2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22"/>
          <p:cNvSpPr txBox="1"/>
          <p:nvPr>
            <p:ph idx="2" type="body"/>
          </p:nvPr>
        </p:nvSpPr>
        <p:spPr>
          <a:xfrm>
            <a:off x="440531" y="897564"/>
            <a:ext cx="8262900" cy="3564300"/>
          </a:xfrm>
          <a:prstGeom prst="rect">
            <a:avLst/>
          </a:prstGeom>
        </p:spPr>
        <p:txBody>
          <a:bodyPr anchorCtr="0" anchor="t" bIns="27000" lIns="5400" spcFirstLastPara="1" rIns="0" wrap="square" tIns="27000">
            <a:normAutofit fontScale="92500" lnSpcReduction="20000"/>
          </a:bodyPr>
          <a:lstStyle/>
          <a:p>
            <a:pPr indent="-357822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T Sans"/>
              <a:buChar char="❖"/>
            </a:pPr>
            <a:r>
              <a:rPr b="1" lang="ru" sz="2200">
                <a:solidFill>
                  <a:schemeClr val="dk1"/>
                </a:solidFill>
              </a:rPr>
              <a:t>Пример вида файла tasks.json:</a:t>
            </a:r>
            <a:endParaRPr sz="13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r>
              <a:rPr lang="ru" sz="1350">
                <a:solidFill>
                  <a:srgbClr val="0451A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"options"</a:t>
            </a:r>
            <a:r>
              <a:rPr lang="ru" sz="13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{</a:t>
            </a:r>
            <a:endParaRPr sz="13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</a:t>
            </a:r>
            <a:r>
              <a:rPr lang="ru" sz="1350">
                <a:solidFill>
                  <a:srgbClr val="0451A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"cwd"</a:t>
            </a:r>
            <a:r>
              <a:rPr lang="ru" sz="13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ru" sz="13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"${fileDirname}"</a:t>
            </a:r>
            <a:endParaRPr sz="1350">
              <a:solidFill>
                <a:srgbClr val="A31515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},</a:t>
            </a:r>
            <a:endParaRPr sz="13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r>
              <a:rPr lang="ru" sz="1350">
                <a:solidFill>
                  <a:srgbClr val="0451A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"problemMatcher"</a:t>
            </a:r>
            <a:r>
              <a:rPr lang="ru" sz="13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[</a:t>
            </a:r>
            <a:endParaRPr sz="13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</a:t>
            </a:r>
            <a:r>
              <a:rPr lang="ru" sz="13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"$gcc"</a:t>
            </a:r>
            <a:endParaRPr sz="1350">
              <a:solidFill>
                <a:srgbClr val="A31515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],</a:t>
            </a:r>
            <a:endParaRPr sz="13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r>
              <a:rPr lang="ru" sz="1350">
                <a:solidFill>
                  <a:srgbClr val="0451A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"group"</a:t>
            </a:r>
            <a:r>
              <a:rPr lang="ru" sz="13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{</a:t>
            </a:r>
            <a:endParaRPr sz="13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</a:t>
            </a:r>
            <a:r>
              <a:rPr lang="ru" sz="1350">
                <a:solidFill>
                  <a:srgbClr val="0451A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"kind"</a:t>
            </a:r>
            <a:r>
              <a:rPr lang="ru" sz="13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ru" sz="13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"build"</a:t>
            </a:r>
            <a:r>
              <a:rPr lang="ru" sz="13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3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</a:t>
            </a:r>
            <a:r>
              <a:rPr lang="ru" sz="1350">
                <a:solidFill>
                  <a:srgbClr val="0451A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"isDefault"</a:t>
            </a:r>
            <a:r>
              <a:rPr lang="ru" sz="13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ru" sz="13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endParaRPr sz="1350">
              <a:solidFill>
                <a:srgbClr val="0000F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},</a:t>
            </a:r>
            <a:endParaRPr sz="13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r>
              <a:rPr lang="ru" sz="1350">
                <a:solidFill>
                  <a:srgbClr val="0451A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"detail"</a:t>
            </a:r>
            <a:r>
              <a:rPr lang="ru" sz="13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ru" sz="13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"Task generated by Debugger."</a:t>
            </a:r>
            <a:endParaRPr sz="1350">
              <a:solidFill>
                <a:srgbClr val="A31515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}</a:t>
            </a:r>
            <a:endParaRPr sz="13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],</a:t>
            </a:r>
            <a:endParaRPr sz="13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1350">
                <a:solidFill>
                  <a:srgbClr val="0451A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"version"</a:t>
            </a:r>
            <a:r>
              <a:rPr lang="ru" sz="13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ru" sz="13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"2.0.0"</a:t>
            </a:r>
            <a:endParaRPr sz="1350">
              <a:solidFill>
                <a:srgbClr val="A31515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3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3"/>
          <p:cNvSpPr txBox="1"/>
          <p:nvPr>
            <p:ph type="title"/>
          </p:nvPr>
        </p:nvSpPr>
        <p:spPr>
          <a:xfrm>
            <a:off x="440531" y="255824"/>
            <a:ext cx="8262900" cy="549000"/>
          </a:xfrm>
          <a:prstGeom prst="rect">
            <a:avLst/>
          </a:prstGeom>
        </p:spPr>
        <p:txBody>
          <a:bodyPr anchorCtr="0" anchor="ctr" bIns="27000" lIns="24300" spcFirstLastPara="1" rIns="0" wrap="square" tIns="270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Кратко о </a:t>
            </a:r>
            <a:r>
              <a:rPr lang="ru"/>
              <a:t>пересечении</a:t>
            </a:r>
            <a:r>
              <a:rPr lang="ru"/>
              <a:t> Boost и STL</a:t>
            </a:r>
            <a:endParaRPr/>
          </a:p>
        </p:txBody>
      </p:sp>
      <p:sp>
        <p:nvSpPr>
          <p:cNvPr id="159" name="Google Shape;159;p23"/>
          <p:cNvSpPr txBox="1"/>
          <p:nvPr>
            <p:ph idx="1" type="body"/>
          </p:nvPr>
        </p:nvSpPr>
        <p:spPr>
          <a:xfrm>
            <a:off x="440531" y="4788678"/>
            <a:ext cx="3375300" cy="273900"/>
          </a:xfrm>
          <a:prstGeom prst="rect">
            <a:avLst/>
          </a:prstGeom>
        </p:spPr>
        <p:txBody>
          <a:bodyPr anchorCtr="0" anchor="ctr" bIns="27000" lIns="24300" spcFirstLastPara="1" rIns="0" wrap="square" tIns="2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3"/>
          <p:cNvSpPr txBox="1"/>
          <p:nvPr>
            <p:ph idx="2" type="body"/>
          </p:nvPr>
        </p:nvSpPr>
        <p:spPr>
          <a:xfrm>
            <a:off x="440531" y="897564"/>
            <a:ext cx="8262900" cy="3564300"/>
          </a:xfrm>
          <a:prstGeom prst="rect">
            <a:avLst/>
          </a:prstGeom>
        </p:spPr>
        <p:txBody>
          <a:bodyPr anchorCtr="0" anchor="t" bIns="27000" lIns="5400" spcFirstLastPara="1" rIns="0" wrap="square" tIns="27000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200"/>
              <a:buFont typeface="PT Sans"/>
              <a:buChar char="❖"/>
            </a:pPr>
            <a:r>
              <a:rPr lang="ru" sz="2200"/>
              <a:t>Boost.Thread – есть в STL с С++11 как std::thread, std::mutex и др.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PT Sans"/>
              <a:buChar char="❖"/>
            </a:pPr>
            <a:r>
              <a:rPr lang="ru" sz="2200"/>
              <a:t>Boost.Filesystem – есть в STL с С++17 как std::filesystem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PT Sans"/>
              <a:buChar char="❖"/>
            </a:pPr>
            <a:r>
              <a:rPr lang="ru" sz="2200"/>
              <a:t>Boost.Regex – есть в STL с С++11 как std::regex 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PT Sans"/>
              <a:buChar char="❖"/>
            </a:pPr>
            <a:r>
              <a:rPr lang="ru" sz="2200"/>
              <a:t>Boost.Smart_Pointers – есть в STL с С++11 как std::shared_pts, std::unique_ptr и std::weak_ptr</a:t>
            </a:r>
            <a:endParaRPr sz="2200"/>
          </a:p>
        </p:txBody>
      </p:sp>
      <p:sp>
        <p:nvSpPr>
          <p:cNvPr id="161" name="Google Shape;161;p23"/>
          <p:cNvSpPr txBox="1"/>
          <p:nvPr>
            <p:ph idx="12" type="sldNum"/>
          </p:nvPr>
        </p:nvSpPr>
        <p:spPr>
          <a:xfrm>
            <a:off x="8365965" y="4804358"/>
            <a:ext cx="337500" cy="251700"/>
          </a:xfrm>
          <a:prstGeom prst="rect">
            <a:avLst/>
          </a:prstGeom>
        </p:spPr>
        <p:txBody>
          <a:bodyPr anchorCtr="0" anchor="t" bIns="34275" lIns="0" spcFirstLastPara="1" rIns="0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162" name="Google Shape;16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8763" y="2847313"/>
            <a:ext cx="2543175" cy="1800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4"/>
          <p:cNvSpPr txBox="1"/>
          <p:nvPr>
            <p:ph type="title"/>
          </p:nvPr>
        </p:nvSpPr>
        <p:spPr>
          <a:xfrm>
            <a:off x="440531" y="255824"/>
            <a:ext cx="8262900" cy="549000"/>
          </a:xfrm>
          <a:prstGeom prst="rect">
            <a:avLst/>
          </a:prstGeom>
        </p:spPr>
        <p:txBody>
          <a:bodyPr anchorCtr="0" anchor="ctr" bIns="27000" lIns="24300" spcFirstLastPara="1" rIns="0" wrap="square" tIns="270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Boost.Asio</a:t>
            </a:r>
            <a:endParaRPr/>
          </a:p>
        </p:txBody>
      </p:sp>
      <p:sp>
        <p:nvSpPr>
          <p:cNvPr id="168" name="Google Shape;168;p24"/>
          <p:cNvSpPr txBox="1"/>
          <p:nvPr>
            <p:ph idx="1" type="body"/>
          </p:nvPr>
        </p:nvSpPr>
        <p:spPr>
          <a:xfrm>
            <a:off x="440531" y="4788678"/>
            <a:ext cx="3375300" cy="273900"/>
          </a:xfrm>
          <a:prstGeom prst="rect">
            <a:avLst/>
          </a:prstGeom>
        </p:spPr>
        <p:txBody>
          <a:bodyPr anchorCtr="0" anchor="ctr" bIns="27000" lIns="24300" spcFirstLastPara="1" rIns="0" wrap="square" tIns="2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24"/>
          <p:cNvSpPr txBox="1"/>
          <p:nvPr>
            <p:ph idx="2" type="body"/>
          </p:nvPr>
        </p:nvSpPr>
        <p:spPr>
          <a:xfrm>
            <a:off x="440531" y="897564"/>
            <a:ext cx="8262900" cy="3564300"/>
          </a:xfrm>
          <a:prstGeom prst="rect">
            <a:avLst/>
          </a:prstGeom>
        </p:spPr>
        <p:txBody>
          <a:bodyPr anchorCtr="0" anchor="t" bIns="27000" lIns="5400" spcFirstLastPara="1" rIns="0" wrap="square" tIns="27000">
            <a:normAutofit fontScale="85000" lnSpcReduction="10000"/>
          </a:bodyPr>
          <a:lstStyle/>
          <a:p>
            <a:pPr indent="-347345" lvl="0" marL="4572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ct val="100000"/>
              <a:buFont typeface="PT Sans"/>
              <a:buChar char="❖"/>
            </a:pPr>
            <a:r>
              <a:rPr b="1" lang="ru" sz="2200"/>
              <a:t>Boost.Asio </a:t>
            </a:r>
            <a:r>
              <a:rPr lang="ru" sz="2200"/>
              <a:t>— это библиотека для программирования асинхронного ввода-вывода, включая сетевые операции, таймеры, обработку файловых дескрипторов и др. </a:t>
            </a:r>
            <a:endParaRPr sz="2200"/>
          </a:p>
          <a:p>
            <a:pPr indent="-347344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PT Sans"/>
              <a:buChar char="➢"/>
            </a:pPr>
            <a:r>
              <a:rPr lang="ru" sz="2200"/>
              <a:t>Поддерживает как синхронный, так и асинхронный режим работы а также позволяет строить масштабируемые, эффективные приложения без блокировок и излишних потоков.</a:t>
            </a:r>
            <a:endParaRPr sz="2200"/>
          </a:p>
          <a:p>
            <a:pPr indent="-347344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PT Sans"/>
              <a:buChar char="➢"/>
            </a:pPr>
            <a:r>
              <a:rPr lang="ru" sz="2200"/>
              <a:t>В основе лежит цикл обработки событий (event loop, io_context), который реализует неблокирующий ввод-вывод.</a:t>
            </a:r>
            <a:endParaRPr sz="2200"/>
          </a:p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 sz="2200"/>
          </a:p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ru" sz="2200"/>
              <a:t>Важно</a:t>
            </a:r>
            <a:r>
              <a:rPr lang="ru" sz="2200"/>
              <a:t>: нет необходимости выделять отдельный поток на каждую операцию, вместо этого один или несколько потоков обслуживают множество операций.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0" name="Google Shape;170;p24"/>
          <p:cNvSpPr txBox="1"/>
          <p:nvPr>
            <p:ph idx="12" type="sldNum"/>
          </p:nvPr>
        </p:nvSpPr>
        <p:spPr>
          <a:xfrm>
            <a:off x="8365965" y="4804358"/>
            <a:ext cx="337500" cy="251700"/>
          </a:xfrm>
          <a:prstGeom prst="rect">
            <a:avLst/>
          </a:prstGeom>
        </p:spPr>
        <p:txBody>
          <a:bodyPr anchorCtr="0" anchor="t" bIns="34275" lIns="0" spcFirstLastPara="1" rIns="0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5"/>
          <p:cNvSpPr txBox="1"/>
          <p:nvPr>
            <p:ph type="title"/>
          </p:nvPr>
        </p:nvSpPr>
        <p:spPr>
          <a:xfrm>
            <a:off x="440531" y="255824"/>
            <a:ext cx="8262900" cy="549000"/>
          </a:xfrm>
          <a:prstGeom prst="rect">
            <a:avLst/>
          </a:prstGeom>
        </p:spPr>
        <p:txBody>
          <a:bodyPr anchorCtr="0" anchor="ctr" bIns="27000" lIns="24300" spcFirstLastPara="1" rIns="0" wrap="square" tIns="270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Boost.Asio</a:t>
            </a:r>
            <a:endParaRPr/>
          </a:p>
        </p:txBody>
      </p:sp>
      <p:sp>
        <p:nvSpPr>
          <p:cNvPr id="176" name="Google Shape;176;p25"/>
          <p:cNvSpPr txBox="1"/>
          <p:nvPr>
            <p:ph idx="1" type="body"/>
          </p:nvPr>
        </p:nvSpPr>
        <p:spPr>
          <a:xfrm>
            <a:off x="440531" y="4788678"/>
            <a:ext cx="3375300" cy="273900"/>
          </a:xfrm>
          <a:prstGeom prst="rect">
            <a:avLst/>
          </a:prstGeom>
        </p:spPr>
        <p:txBody>
          <a:bodyPr anchorCtr="0" anchor="ctr" bIns="27000" lIns="24300" spcFirstLastPara="1" rIns="0" wrap="square" tIns="2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25"/>
          <p:cNvSpPr txBox="1"/>
          <p:nvPr>
            <p:ph idx="2" type="body"/>
          </p:nvPr>
        </p:nvSpPr>
        <p:spPr>
          <a:xfrm>
            <a:off x="440525" y="897575"/>
            <a:ext cx="7925400" cy="1724400"/>
          </a:xfrm>
          <a:prstGeom prst="rect">
            <a:avLst/>
          </a:prstGeom>
        </p:spPr>
        <p:txBody>
          <a:bodyPr anchorCtr="0" anchor="t" bIns="27000" lIns="5400" spcFirstLastPara="1" rIns="0" wrap="square" tIns="27000">
            <a:normAutofit fontScale="92500" lnSpcReduction="20000"/>
          </a:bodyPr>
          <a:lstStyle/>
          <a:p>
            <a:pPr indent="-357822" lvl="0" marL="4572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ct val="100000"/>
              <a:buFont typeface="PT Sans"/>
              <a:buChar char="❖"/>
            </a:pPr>
            <a:r>
              <a:rPr lang="ru" sz="2200"/>
              <a:t>std::async и std::future обеспечивают простой механизм для запуска и ожидания асинхронных задач, но запускают задачи в отдельных потоках, что неэффективно для масштабных сетевых приложений.</a:t>
            </a:r>
            <a:endParaRPr sz="2200"/>
          </a:p>
          <a:p>
            <a:pPr indent="0" lvl="0" marL="4572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  <p:sp>
        <p:nvSpPr>
          <p:cNvPr id="178" name="Google Shape;178;p25"/>
          <p:cNvSpPr txBox="1"/>
          <p:nvPr>
            <p:ph idx="12" type="sldNum"/>
          </p:nvPr>
        </p:nvSpPr>
        <p:spPr>
          <a:xfrm>
            <a:off x="8365965" y="4804358"/>
            <a:ext cx="337500" cy="251700"/>
          </a:xfrm>
          <a:prstGeom prst="rect">
            <a:avLst/>
          </a:prstGeom>
        </p:spPr>
        <p:txBody>
          <a:bodyPr anchorCtr="0" anchor="t" bIns="34275" lIns="0" spcFirstLastPara="1" rIns="0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179" name="Google Shape;17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62075" y="2621975"/>
            <a:ext cx="5175726" cy="172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6"/>
          <p:cNvSpPr txBox="1"/>
          <p:nvPr>
            <p:ph type="title"/>
          </p:nvPr>
        </p:nvSpPr>
        <p:spPr>
          <a:xfrm>
            <a:off x="440531" y="255824"/>
            <a:ext cx="8262900" cy="549000"/>
          </a:xfrm>
          <a:prstGeom prst="rect">
            <a:avLst/>
          </a:prstGeom>
        </p:spPr>
        <p:txBody>
          <a:bodyPr anchorCtr="0" anchor="ctr" bIns="27000" lIns="24300" spcFirstLastPara="1" rIns="0" wrap="square" tIns="270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Boost.Asio</a:t>
            </a:r>
            <a:endParaRPr/>
          </a:p>
        </p:txBody>
      </p:sp>
      <p:sp>
        <p:nvSpPr>
          <p:cNvPr id="185" name="Google Shape;185;p26"/>
          <p:cNvSpPr txBox="1"/>
          <p:nvPr>
            <p:ph idx="1" type="body"/>
          </p:nvPr>
        </p:nvSpPr>
        <p:spPr>
          <a:xfrm>
            <a:off x="440531" y="4788678"/>
            <a:ext cx="3375300" cy="273900"/>
          </a:xfrm>
          <a:prstGeom prst="rect">
            <a:avLst/>
          </a:prstGeom>
        </p:spPr>
        <p:txBody>
          <a:bodyPr anchorCtr="0" anchor="ctr" bIns="27000" lIns="24300" spcFirstLastPara="1" rIns="0" wrap="square" tIns="2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26"/>
          <p:cNvSpPr txBox="1"/>
          <p:nvPr>
            <p:ph idx="12" type="sldNum"/>
          </p:nvPr>
        </p:nvSpPr>
        <p:spPr>
          <a:xfrm>
            <a:off x="8365965" y="4804358"/>
            <a:ext cx="337500" cy="251700"/>
          </a:xfrm>
          <a:prstGeom prst="rect">
            <a:avLst/>
          </a:prstGeom>
        </p:spPr>
        <p:txBody>
          <a:bodyPr anchorCtr="0" anchor="t" bIns="34275" lIns="0" spcFirstLastPara="1" rIns="0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87" name="Google Shape;187;p26"/>
          <p:cNvSpPr txBox="1"/>
          <p:nvPr>
            <p:ph idx="2" type="body"/>
          </p:nvPr>
        </p:nvSpPr>
        <p:spPr>
          <a:xfrm>
            <a:off x="440525" y="840100"/>
            <a:ext cx="5803500" cy="3733500"/>
          </a:xfrm>
          <a:prstGeom prst="rect">
            <a:avLst/>
          </a:prstGeom>
        </p:spPr>
        <p:txBody>
          <a:bodyPr anchorCtr="0" anchor="t" bIns="27000" lIns="5400" spcFirstLastPara="1" rIns="0" wrap="square" tIns="27000">
            <a:normAutofit/>
          </a:bodyPr>
          <a:lstStyle/>
          <a:p>
            <a:pPr indent="-368300" lvl="0" marL="4572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200"/>
              <a:buFont typeface="PT Sans"/>
              <a:buChar char="❖"/>
            </a:pPr>
            <a:r>
              <a:rPr lang="ru" sz="2200"/>
              <a:t>Boost.Asio построен специально для асинхронного I/O с поддержкой событийной модели, таймеров, сокетов, что значительно расширяет возможности и контроль. </a:t>
            </a:r>
            <a:endParaRPr sz="2200"/>
          </a:p>
        </p:txBody>
      </p:sp>
      <p:pic>
        <p:nvPicPr>
          <p:cNvPr id="188" name="Google Shape;188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49600" y="583398"/>
            <a:ext cx="2153875" cy="383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7"/>
          <p:cNvSpPr txBox="1"/>
          <p:nvPr>
            <p:ph type="ctrTitle"/>
          </p:nvPr>
        </p:nvSpPr>
        <p:spPr>
          <a:xfrm>
            <a:off x="629841" y="3139343"/>
            <a:ext cx="7885500" cy="678000"/>
          </a:xfrm>
          <a:prstGeom prst="rect">
            <a:avLst/>
          </a:prstGeom>
        </p:spPr>
        <p:txBody>
          <a:bodyPr anchorCtr="0" anchor="ctr" bIns="27000" lIns="5400" spcFirstLastPara="1" rIns="0" wrap="square" tIns="270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Мастер-класс</a:t>
            </a:r>
            <a:endParaRPr/>
          </a:p>
        </p:txBody>
      </p:sp>
      <p:sp>
        <p:nvSpPr>
          <p:cNvPr id="194" name="Google Shape;194;p2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34275" lIns="0" spcFirstLastPara="1" rIns="0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95" name="Google Shape;195;p27"/>
          <p:cNvSpPr txBox="1"/>
          <p:nvPr>
            <p:ph idx="1" type="body"/>
          </p:nvPr>
        </p:nvSpPr>
        <p:spPr>
          <a:xfrm>
            <a:off x="629841" y="4010118"/>
            <a:ext cx="7885500" cy="740400"/>
          </a:xfrm>
          <a:prstGeom prst="rect">
            <a:avLst/>
          </a:prstGeom>
        </p:spPr>
        <p:txBody>
          <a:bodyPr anchorCtr="0" anchor="t" bIns="27000" lIns="5400" spcFirstLastPara="1" rIns="0" wrap="square" tIns="270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4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Сервер на </a:t>
            </a:r>
            <a:r>
              <a:rPr b="1" lang="ru" sz="24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Boost.Asio </a:t>
            </a:r>
            <a:endParaRPr/>
          </a:p>
        </p:txBody>
      </p:sp>
      <p:sp>
        <p:nvSpPr>
          <p:cNvPr id="196" name="Google Shape;196;p27"/>
          <p:cNvSpPr txBox="1"/>
          <p:nvPr/>
        </p:nvSpPr>
        <p:spPr>
          <a:xfrm>
            <a:off x="4106175" y="2677425"/>
            <a:ext cx="5232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6AA84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 depends</a:t>
            </a:r>
            <a:endParaRPr>
              <a:solidFill>
                <a:srgbClr val="6AA84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1C458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#include</a:t>
            </a:r>
            <a:r>
              <a:rPr lang="ru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>
                <a:solidFill>
                  <a:srgbClr val="38761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&lt;boost/asio.hpp&gt;</a:t>
            </a:r>
            <a:endParaRPr>
              <a:solidFill>
                <a:srgbClr val="38761D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1C458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#include</a:t>
            </a:r>
            <a:r>
              <a:rPr lang="ru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>
                <a:solidFill>
                  <a:srgbClr val="38761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&lt;iostream&gt;</a:t>
            </a:r>
            <a:endParaRPr>
              <a:solidFill>
                <a:srgbClr val="38761D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1C458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#include</a:t>
            </a:r>
            <a:r>
              <a:rPr lang="ru">
                <a:solidFill>
                  <a:srgbClr val="38761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&lt;memory&gt;</a:t>
            </a:r>
            <a:endParaRPr>
              <a:solidFill>
                <a:srgbClr val="38761D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1C458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#include</a:t>
            </a:r>
            <a:r>
              <a:rPr lang="ru">
                <a:solidFill>
                  <a:srgbClr val="38761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&lt;vector&gt;</a:t>
            </a:r>
            <a:endParaRPr>
              <a:solidFill>
                <a:srgbClr val="38761D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8761D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BF9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using</a:t>
            </a:r>
            <a:r>
              <a:rPr lang="ru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>
                <a:solidFill>
                  <a:srgbClr val="A64D7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boost::asio::ip::tcp</a:t>
            </a:r>
            <a:r>
              <a:rPr lang="ru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8"/>
          <p:cNvSpPr txBox="1"/>
          <p:nvPr>
            <p:ph type="title"/>
          </p:nvPr>
        </p:nvSpPr>
        <p:spPr>
          <a:xfrm>
            <a:off x="440531" y="255824"/>
            <a:ext cx="8262900" cy="549000"/>
          </a:xfrm>
          <a:prstGeom prst="rect">
            <a:avLst/>
          </a:prstGeom>
        </p:spPr>
        <p:txBody>
          <a:bodyPr anchorCtr="0" anchor="ctr" bIns="27000" lIns="24300" spcFirstLastPara="1" rIns="0" wrap="square" tIns="270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Сервер на Boost.Asio </a:t>
            </a:r>
            <a:endParaRPr/>
          </a:p>
        </p:txBody>
      </p:sp>
      <p:sp>
        <p:nvSpPr>
          <p:cNvPr id="202" name="Google Shape;202;p28"/>
          <p:cNvSpPr txBox="1"/>
          <p:nvPr>
            <p:ph idx="1" type="body"/>
          </p:nvPr>
        </p:nvSpPr>
        <p:spPr>
          <a:xfrm>
            <a:off x="440531" y="4788678"/>
            <a:ext cx="3375300" cy="273900"/>
          </a:xfrm>
          <a:prstGeom prst="rect">
            <a:avLst/>
          </a:prstGeom>
        </p:spPr>
        <p:txBody>
          <a:bodyPr anchorCtr="0" anchor="ctr" bIns="27000" lIns="24300" spcFirstLastPara="1" rIns="0" wrap="square" tIns="2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28"/>
          <p:cNvSpPr txBox="1"/>
          <p:nvPr>
            <p:ph idx="2" type="body"/>
          </p:nvPr>
        </p:nvSpPr>
        <p:spPr>
          <a:xfrm>
            <a:off x="440525" y="897576"/>
            <a:ext cx="8262900" cy="3815100"/>
          </a:xfrm>
          <a:prstGeom prst="rect">
            <a:avLst/>
          </a:prstGeom>
        </p:spPr>
        <p:txBody>
          <a:bodyPr anchorCtr="0" anchor="t" bIns="27000" lIns="5400" spcFirstLastPara="1" rIns="0" wrap="square" tIns="270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BF9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ru" sz="900">
                <a:solidFill>
                  <a:srgbClr val="38761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1C458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ru" sz="9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 {</a:t>
            </a:r>
            <a:endParaRPr sz="90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900">
                <a:solidFill>
                  <a:srgbClr val="BF9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try</a:t>
            </a:r>
            <a:r>
              <a:rPr lang="ru" sz="9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90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38761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ru" sz="900">
                <a:solidFill>
                  <a:srgbClr val="741B4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boost::asio::io_context</a:t>
            </a:r>
            <a:r>
              <a:rPr lang="ru" sz="900">
                <a:solidFill>
                  <a:srgbClr val="38761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1C458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io_context</a:t>
            </a:r>
            <a:r>
              <a:rPr lang="ru" sz="9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 </a:t>
            </a:r>
            <a:r>
              <a:rPr lang="ru" sz="900">
                <a:solidFill>
                  <a:srgbClr val="38761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 Объект синхронизации</a:t>
            </a:r>
            <a:endParaRPr sz="900">
              <a:solidFill>
                <a:srgbClr val="38761D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38761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ru" sz="900">
                <a:solidFill>
                  <a:srgbClr val="741B4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tcp::acceptor</a:t>
            </a:r>
            <a:r>
              <a:rPr lang="ru" sz="900">
                <a:solidFill>
                  <a:srgbClr val="38761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1C458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acceptor</a:t>
            </a:r>
            <a:r>
              <a:rPr lang="ru" sz="9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900">
                <a:solidFill>
                  <a:srgbClr val="1C4587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io_context</a:t>
            </a:r>
            <a:r>
              <a:rPr lang="ru" sz="9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ru" sz="900">
                <a:solidFill>
                  <a:srgbClr val="1C458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741B4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tcp::endpoint</a:t>
            </a:r>
            <a:r>
              <a:rPr lang="ru" sz="9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900">
                <a:solidFill>
                  <a:srgbClr val="741B4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tcp::v4</a:t>
            </a:r>
            <a:r>
              <a:rPr lang="ru" sz="9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(),</a:t>
            </a:r>
            <a:r>
              <a:rPr lang="ru" sz="900">
                <a:solidFill>
                  <a:srgbClr val="1C458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12345</a:t>
            </a:r>
            <a:r>
              <a:rPr lang="ru" sz="9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)); </a:t>
            </a:r>
            <a:r>
              <a:rPr lang="ru" sz="900">
                <a:solidFill>
                  <a:srgbClr val="38761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 Создаем acceptor для прослушивания</a:t>
            </a:r>
            <a:endParaRPr sz="900">
              <a:solidFill>
                <a:srgbClr val="38761D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ru" sz="900">
                <a:solidFill>
                  <a:srgbClr val="741B4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std::cout</a:t>
            </a:r>
            <a:r>
              <a:rPr lang="ru" sz="9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&lt;&lt; </a:t>
            </a:r>
            <a:r>
              <a:rPr lang="ru" sz="900">
                <a:solidFill>
                  <a:srgbClr val="38761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"Server running on port 12345\n"</a:t>
            </a:r>
            <a:r>
              <a:rPr lang="ru" sz="9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90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38761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ru" sz="900">
                <a:solidFill>
                  <a:srgbClr val="741B4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std::function</a:t>
            </a:r>
            <a:r>
              <a:rPr lang="ru" sz="9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ru" sz="900">
                <a:solidFill>
                  <a:srgbClr val="BF9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ru" sz="9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()&gt;</a:t>
            </a:r>
            <a:r>
              <a:rPr lang="ru" sz="900">
                <a:solidFill>
                  <a:srgbClr val="38761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1C458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do_accept</a:t>
            </a:r>
            <a:r>
              <a:rPr lang="ru" sz="9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 </a:t>
            </a:r>
            <a:r>
              <a:rPr lang="ru" sz="900">
                <a:solidFill>
                  <a:srgbClr val="38761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 Вектор для лямбда-функций для приема новых соединений; ниже - функция</a:t>
            </a:r>
            <a:endParaRPr sz="900">
              <a:solidFill>
                <a:srgbClr val="38761D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ru" sz="900">
                <a:solidFill>
                  <a:srgbClr val="1C458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do_accept</a:t>
            </a:r>
            <a:r>
              <a:rPr lang="ru" sz="9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[&amp;]() {</a:t>
            </a:r>
            <a:endParaRPr sz="90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lang="ru" sz="900">
                <a:solidFill>
                  <a:srgbClr val="BF9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auto</a:t>
            </a:r>
            <a:r>
              <a:rPr lang="ru" sz="9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1C458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socket</a:t>
            </a:r>
            <a:r>
              <a:rPr lang="ru" sz="9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ru" sz="900">
                <a:solidFill>
                  <a:srgbClr val="741B4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std::make_shared</a:t>
            </a:r>
            <a:r>
              <a:rPr lang="ru" sz="9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ru" sz="900">
                <a:solidFill>
                  <a:srgbClr val="741B4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tcp::socket</a:t>
            </a:r>
            <a:r>
              <a:rPr lang="ru" sz="9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&gt;(</a:t>
            </a:r>
            <a:r>
              <a:rPr lang="ru" sz="900">
                <a:solidFill>
                  <a:srgbClr val="1C458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io_context</a:t>
            </a:r>
            <a:r>
              <a:rPr lang="ru" sz="9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r>
              <a:rPr lang="ru" sz="900">
                <a:solidFill>
                  <a:srgbClr val="38761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 Новый сокет для приема</a:t>
            </a:r>
            <a:endParaRPr sz="900">
              <a:solidFill>
                <a:srgbClr val="38761D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lang="ru" sz="900">
                <a:solidFill>
                  <a:srgbClr val="1C458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acceptor</a:t>
            </a:r>
            <a:r>
              <a:rPr lang="ru" sz="9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900">
                <a:solidFill>
                  <a:srgbClr val="1C458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async_accept</a:t>
            </a:r>
            <a:r>
              <a:rPr lang="ru" sz="9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(*</a:t>
            </a:r>
            <a:r>
              <a:rPr lang="ru" sz="900">
                <a:solidFill>
                  <a:srgbClr val="1C458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socket</a:t>
            </a:r>
            <a:r>
              <a:rPr lang="ru" sz="9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[&amp;, </a:t>
            </a:r>
            <a:r>
              <a:rPr lang="ru" sz="900">
                <a:solidFill>
                  <a:srgbClr val="1C458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socket</a:t>
            </a:r>
            <a:r>
              <a:rPr lang="ru" sz="9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](</a:t>
            </a:r>
            <a:r>
              <a:rPr lang="ru" sz="900">
                <a:solidFill>
                  <a:srgbClr val="741B4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boost::system::error_code</a:t>
            </a:r>
            <a:r>
              <a:rPr lang="ru" sz="9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1C458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ec</a:t>
            </a:r>
            <a:r>
              <a:rPr lang="ru" sz="9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 { </a:t>
            </a:r>
            <a:r>
              <a:rPr lang="ru" sz="900">
                <a:solidFill>
                  <a:srgbClr val="38761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 Асинхроное ожидание соединения</a:t>
            </a:r>
            <a:endParaRPr sz="900">
              <a:solidFill>
                <a:srgbClr val="38761D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lang="ru" sz="900">
                <a:solidFill>
                  <a:srgbClr val="BF9000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ru" sz="9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(!</a:t>
            </a:r>
            <a:r>
              <a:rPr lang="ru" sz="900">
                <a:solidFill>
                  <a:srgbClr val="1C458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ec</a:t>
            </a:r>
            <a:r>
              <a:rPr lang="ru" sz="9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90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</a:t>
            </a:r>
            <a:r>
              <a:rPr lang="ru" sz="900">
                <a:solidFill>
                  <a:srgbClr val="741B4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std::cout</a:t>
            </a:r>
            <a:r>
              <a:rPr lang="ru" sz="9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&lt;&lt; </a:t>
            </a:r>
            <a:r>
              <a:rPr lang="ru" sz="900">
                <a:solidFill>
                  <a:srgbClr val="38761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"New client connected\n"</a:t>
            </a:r>
            <a:r>
              <a:rPr lang="ru" sz="9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90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</a:t>
            </a:r>
            <a:r>
              <a:rPr lang="ru" sz="900">
                <a:solidFill>
                  <a:srgbClr val="1C458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session</a:t>
            </a:r>
            <a:r>
              <a:rPr lang="ru" sz="9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900">
                <a:solidFill>
                  <a:srgbClr val="1C458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socket</a:t>
            </a:r>
            <a:r>
              <a:rPr lang="ru" sz="9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90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}</a:t>
            </a:r>
            <a:endParaRPr sz="90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lang="ru" sz="900">
                <a:solidFill>
                  <a:srgbClr val="1C458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do_accept</a:t>
            </a:r>
            <a:r>
              <a:rPr lang="ru" sz="9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(); </a:t>
            </a:r>
            <a:r>
              <a:rPr lang="ru" sz="900">
                <a:solidFill>
                  <a:srgbClr val="38761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 бесконечное соединение</a:t>
            </a:r>
            <a:endParaRPr sz="900">
              <a:solidFill>
                <a:srgbClr val="38761D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});</a:t>
            </a:r>
            <a:endParaRPr sz="90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};</a:t>
            </a:r>
            <a:endParaRPr sz="90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ru" sz="900">
                <a:solidFill>
                  <a:srgbClr val="1C458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do_accept</a:t>
            </a:r>
            <a:r>
              <a:rPr lang="ru" sz="9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(); </a:t>
            </a:r>
            <a:r>
              <a:rPr lang="ru" sz="900">
                <a:solidFill>
                  <a:srgbClr val="38761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 Запуск бесконечного цикла асинхронных операций</a:t>
            </a:r>
            <a:endParaRPr sz="900">
              <a:solidFill>
                <a:srgbClr val="38761D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ru" sz="900">
                <a:solidFill>
                  <a:srgbClr val="1C4587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io_context</a:t>
            </a:r>
            <a:r>
              <a:rPr lang="ru" sz="9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900">
                <a:solidFill>
                  <a:srgbClr val="1C458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run</a:t>
            </a:r>
            <a:r>
              <a:rPr lang="ru" sz="9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(); </a:t>
            </a:r>
            <a:r>
              <a:rPr lang="ru" sz="900">
                <a:solidFill>
                  <a:srgbClr val="38761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 Блокировка в ожидании завершения асинхронных операций</a:t>
            </a:r>
            <a:endParaRPr sz="900">
              <a:solidFill>
                <a:srgbClr val="38761D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90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900">
                <a:solidFill>
                  <a:srgbClr val="BF9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catch</a:t>
            </a:r>
            <a:r>
              <a:rPr lang="ru" sz="9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ru" sz="900">
                <a:solidFill>
                  <a:srgbClr val="741B4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std::exception</a:t>
            </a:r>
            <a:r>
              <a:rPr lang="ru" sz="9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&amp; </a:t>
            </a:r>
            <a:r>
              <a:rPr lang="ru" sz="900">
                <a:solidFill>
                  <a:srgbClr val="1C458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</a:t>
            </a:r>
            <a:r>
              <a:rPr lang="ru" sz="9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90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ru" sz="900">
                <a:solidFill>
                  <a:srgbClr val="741B4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std::cerr</a:t>
            </a:r>
            <a:r>
              <a:rPr lang="ru" sz="9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&lt;&lt; </a:t>
            </a:r>
            <a:r>
              <a:rPr lang="ru" sz="900">
                <a:solidFill>
                  <a:srgbClr val="38761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"Exception: "</a:t>
            </a:r>
            <a:r>
              <a:rPr lang="ru" sz="9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&lt;&lt; </a:t>
            </a:r>
            <a:r>
              <a:rPr lang="ru" sz="900">
                <a:solidFill>
                  <a:srgbClr val="1C458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</a:t>
            </a:r>
            <a:r>
              <a:rPr lang="ru" sz="9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900">
                <a:solidFill>
                  <a:srgbClr val="1C458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what</a:t>
            </a:r>
            <a:r>
              <a:rPr lang="ru" sz="9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 &lt;&lt; </a:t>
            </a:r>
            <a:r>
              <a:rPr lang="ru" sz="900">
                <a:solidFill>
                  <a:srgbClr val="741B4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std::endl</a:t>
            </a:r>
            <a:r>
              <a:rPr lang="ru" sz="9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90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90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900">
                <a:solidFill>
                  <a:srgbClr val="7F6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ru" sz="9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1C458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ru" sz="9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90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90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204" name="Google Shape;204;p28"/>
          <p:cNvSpPr txBox="1"/>
          <p:nvPr>
            <p:ph idx="12" type="sldNum"/>
          </p:nvPr>
        </p:nvSpPr>
        <p:spPr>
          <a:xfrm>
            <a:off x="8365965" y="4804358"/>
            <a:ext cx="337500" cy="251700"/>
          </a:xfrm>
          <a:prstGeom prst="rect">
            <a:avLst/>
          </a:prstGeom>
        </p:spPr>
        <p:txBody>
          <a:bodyPr anchorCtr="0" anchor="t" bIns="34275" lIns="0" spcFirstLastPara="1" rIns="0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9"/>
          <p:cNvSpPr txBox="1"/>
          <p:nvPr>
            <p:ph type="title"/>
          </p:nvPr>
        </p:nvSpPr>
        <p:spPr>
          <a:xfrm>
            <a:off x="440531" y="255824"/>
            <a:ext cx="8262900" cy="549000"/>
          </a:xfrm>
          <a:prstGeom prst="rect">
            <a:avLst/>
          </a:prstGeom>
        </p:spPr>
        <p:txBody>
          <a:bodyPr anchorCtr="0" anchor="ctr" bIns="27000" lIns="24300" spcFirstLastPara="1" rIns="0" wrap="square" tIns="270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Сервер на Boost.Asio </a:t>
            </a:r>
            <a:endParaRPr/>
          </a:p>
        </p:txBody>
      </p:sp>
      <p:sp>
        <p:nvSpPr>
          <p:cNvPr id="210" name="Google Shape;210;p29"/>
          <p:cNvSpPr txBox="1"/>
          <p:nvPr>
            <p:ph idx="1" type="body"/>
          </p:nvPr>
        </p:nvSpPr>
        <p:spPr>
          <a:xfrm>
            <a:off x="440531" y="4788678"/>
            <a:ext cx="3375300" cy="273900"/>
          </a:xfrm>
          <a:prstGeom prst="rect">
            <a:avLst/>
          </a:prstGeom>
        </p:spPr>
        <p:txBody>
          <a:bodyPr anchorCtr="0" anchor="ctr" bIns="27000" lIns="24300" spcFirstLastPara="1" rIns="0" wrap="square" tIns="2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9"/>
          <p:cNvSpPr txBox="1"/>
          <p:nvPr>
            <p:ph idx="2" type="body"/>
          </p:nvPr>
        </p:nvSpPr>
        <p:spPr>
          <a:xfrm>
            <a:off x="440525" y="897576"/>
            <a:ext cx="8262900" cy="3815100"/>
          </a:xfrm>
          <a:prstGeom prst="rect">
            <a:avLst/>
          </a:prstGeom>
        </p:spPr>
        <p:txBody>
          <a:bodyPr anchorCtr="0" anchor="t" bIns="27000" lIns="5400" spcFirstLastPara="1" rIns="0" wrap="square" tIns="27000">
            <a:norm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BF9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100">
                <a:solidFill>
                  <a:srgbClr val="1C458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session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100">
                <a:solidFill>
                  <a:srgbClr val="741B4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std::shared_ptr&lt;tcp::socket&gt;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100">
                <a:solidFill>
                  <a:srgbClr val="1C458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socket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10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1100">
                <a:solidFill>
                  <a:srgbClr val="BF9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auto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100">
                <a:solidFill>
                  <a:srgbClr val="1C458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buffer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ru" sz="1100">
                <a:solidFill>
                  <a:srgbClr val="741B4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std::make_shared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ru" sz="1100">
                <a:solidFill>
                  <a:srgbClr val="741B4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std::vector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ru" sz="1100">
                <a:solidFill>
                  <a:srgbClr val="BF9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char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&gt;&gt;(</a:t>
            </a:r>
            <a:r>
              <a:rPr lang="ru" sz="1100">
                <a:solidFill>
                  <a:srgbClr val="1C458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1024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 </a:t>
            </a:r>
            <a:r>
              <a:rPr lang="ru" sz="1100">
                <a:solidFill>
                  <a:srgbClr val="38761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//Буффер для хранения данных клиента</a:t>
            </a:r>
            <a:endParaRPr sz="1100">
              <a:solidFill>
                <a:srgbClr val="38761D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8761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// Асихронное чтение из сокета</a:t>
            </a:r>
            <a:endParaRPr sz="1100">
              <a:solidFill>
                <a:srgbClr val="38761D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1100">
                <a:solidFill>
                  <a:srgbClr val="1C458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socket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-&gt;</a:t>
            </a:r>
            <a:r>
              <a:rPr lang="ru" sz="1100">
                <a:solidFill>
                  <a:srgbClr val="1C458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async_read_some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100">
                <a:solidFill>
                  <a:srgbClr val="741B4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boost::asio::buffe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r(*</a:t>
            </a:r>
            <a:r>
              <a:rPr lang="ru" sz="1100">
                <a:solidFill>
                  <a:srgbClr val="1C458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buffer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),</a:t>
            </a:r>
            <a:endParaRPr sz="110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[</a:t>
            </a:r>
            <a:r>
              <a:rPr lang="ru" sz="1100">
                <a:solidFill>
                  <a:srgbClr val="1C458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socket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1100">
                <a:solidFill>
                  <a:srgbClr val="1C458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buffer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](</a:t>
            </a:r>
            <a:r>
              <a:rPr lang="ru" sz="1100">
                <a:solidFill>
                  <a:srgbClr val="BF9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100">
                <a:solidFill>
                  <a:srgbClr val="741B4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boost::system::error_code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&amp; </a:t>
            </a:r>
            <a:r>
              <a:rPr lang="ru" sz="1100">
                <a:solidFill>
                  <a:srgbClr val="1C458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ec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1100">
                <a:solidFill>
                  <a:srgbClr val="741B4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std::size_t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100">
                <a:solidFill>
                  <a:srgbClr val="1C458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length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){</a:t>
            </a:r>
            <a:endParaRPr sz="110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lang="ru" sz="1100">
                <a:solidFill>
                  <a:srgbClr val="BF9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(!</a:t>
            </a:r>
            <a:r>
              <a:rPr lang="ru" sz="1100">
                <a:solidFill>
                  <a:srgbClr val="1C458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ec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10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</a:t>
            </a:r>
            <a:r>
              <a:rPr lang="ru" sz="1100">
                <a:solidFill>
                  <a:srgbClr val="741B4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std::cout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&lt;&lt; </a:t>
            </a:r>
            <a:r>
              <a:rPr lang="ru" sz="1100">
                <a:solidFill>
                  <a:srgbClr val="38761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"Received: "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&lt;&lt; </a:t>
            </a:r>
            <a:r>
              <a:rPr lang="ru" sz="1100">
                <a:solidFill>
                  <a:srgbClr val="741B4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std::string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100">
                <a:solidFill>
                  <a:srgbClr val="1C458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buffer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-&gt;</a:t>
            </a:r>
            <a:r>
              <a:rPr lang="ru" sz="1100">
                <a:solidFill>
                  <a:srgbClr val="1C458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data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(), </a:t>
            </a:r>
            <a:r>
              <a:rPr lang="ru" sz="1100">
                <a:solidFill>
                  <a:srgbClr val="1C458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length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 &lt;&lt; </a:t>
            </a:r>
            <a:r>
              <a:rPr lang="ru" sz="1100">
                <a:solidFill>
                  <a:srgbClr val="741B4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std::endl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10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</a:t>
            </a:r>
            <a:r>
              <a:rPr lang="ru" sz="1100">
                <a:solidFill>
                  <a:srgbClr val="38761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 Отправка обратно данных (эхо ответ)</a:t>
            </a:r>
            <a:endParaRPr sz="1100">
              <a:solidFill>
                <a:srgbClr val="38761D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</a:t>
            </a:r>
            <a:r>
              <a:rPr lang="ru" sz="1100">
                <a:solidFill>
                  <a:srgbClr val="741B4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boost::asio::async_write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(*</a:t>
            </a:r>
            <a:r>
              <a:rPr lang="ru" sz="1100">
                <a:solidFill>
                  <a:srgbClr val="1C458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socket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1100">
                <a:solidFill>
                  <a:srgbClr val="741B4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boost::asio::buffer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(*</a:t>
            </a:r>
            <a:r>
              <a:rPr lang="ru" sz="1100">
                <a:solidFill>
                  <a:srgbClr val="1C458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buffer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1100">
                <a:solidFill>
                  <a:srgbClr val="1C458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length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),</a:t>
            </a:r>
            <a:endParaRPr sz="110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    [</a:t>
            </a:r>
            <a:r>
              <a:rPr lang="ru" sz="1100">
                <a:solidFill>
                  <a:srgbClr val="1C458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socket, buffer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](</a:t>
            </a:r>
            <a:r>
              <a:rPr lang="ru" sz="1100">
                <a:solidFill>
                  <a:srgbClr val="BF9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100">
                <a:solidFill>
                  <a:srgbClr val="741B4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boost::system::error_code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&amp; </a:t>
            </a:r>
            <a:r>
              <a:rPr lang="ru" sz="1100">
                <a:solidFill>
                  <a:srgbClr val="1C458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ec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1100">
                <a:solidFill>
                  <a:srgbClr val="741B4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std::size_t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100">
                <a:solidFill>
                  <a:srgbClr val="38761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/*length*/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10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</a:t>
            </a:r>
            <a:r>
              <a:rPr lang="ru" sz="1100">
                <a:solidFill>
                  <a:srgbClr val="7F6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(!</a:t>
            </a:r>
            <a:r>
              <a:rPr lang="ru" sz="1100">
                <a:solidFill>
                  <a:srgbClr val="1C458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ec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){ </a:t>
            </a:r>
            <a:r>
              <a:rPr lang="ru" sz="1100">
                <a:solidFill>
                  <a:srgbClr val="38761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 Если ошибок при записи нет - запускаем сессию на следующий пакет</a:t>
            </a:r>
            <a:endParaRPr sz="1100">
              <a:solidFill>
                <a:srgbClr val="38761D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    </a:t>
            </a:r>
            <a:r>
              <a:rPr lang="ru" sz="1100">
                <a:solidFill>
                  <a:srgbClr val="1C458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session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100">
                <a:solidFill>
                  <a:srgbClr val="1C458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socket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10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}</a:t>
            </a:r>
            <a:endParaRPr sz="110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});</a:t>
            </a:r>
            <a:endParaRPr sz="110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}</a:t>
            </a:r>
            <a:endParaRPr sz="110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});</a:t>
            </a:r>
            <a:endParaRPr sz="110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10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212" name="Google Shape;212;p29"/>
          <p:cNvSpPr txBox="1"/>
          <p:nvPr>
            <p:ph idx="12" type="sldNum"/>
          </p:nvPr>
        </p:nvSpPr>
        <p:spPr>
          <a:xfrm>
            <a:off x="8365965" y="4804358"/>
            <a:ext cx="337500" cy="251700"/>
          </a:xfrm>
          <a:prstGeom prst="rect">
            <a:avLst/>
          </a:prstGeom>
        </p:spPr>
        <p:txBody>
          <a:bodyPr anchorCtr="0" anchor="t" bIns="34275" lIns="0" spcFirstLastPara="1" rIns="0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0"/>
          <p:cNvSpPr txBox="1"/>
          <p:nvPr>
            <p:ph type="title"/>
          </p:nvPr>
        </p:nvSpPr>
        <p:spPr>
          <a:xfrm>
            <a:off x="440531" y="255824"/>
            <a:ext cx="8262900" cy="549000"/>
          </a:xfrm>
          <a:prstGeom prst="rect">
            <a:avLst/>
          </a:prstGeom>
        </p:spPr>
        <p:txBody>
          <a:bodyPr anchorCtr="0" anchor="ctr" bIns="27000" lIns="24300" spcFirstLastPara="1" rIns="0" wrap="square" tIns="270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Сервер на Boost.Asio </a:t>
            </a:r>
            <a:endParaRPr/>
          </a:p>
        </p:txBody>
      </p:sp>
      <p:sp>
        <p:nvSpPr>
          <p:cNvPr id="218" name="Google Shape;218;p30"/>
          <p:cNvSpPr txBox="1"/>
          <p:nvPr>
            <p:ph idx="1" type="body"/>
          </p:nvPr>
        </p:nvSpPr>
        <p:spPr>
          <a:xfrm>
            <a:off x="440531" y="4788678"/>
            <a:ext cx="3375300" cy="273900"/>
          </a:xfrm>
          <a:prstGeom prst="rect">
            <a:avLst/>
          </a:prstGeom>
        </p:spPr>
        <p:txBody>
          <a:bodyPr anchorCtr="0" anchor="ctr" bIns="27000" lIns="24300" spcFirstLastPara="1" rIns="0" wrap="square" tIns="2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30"/>
          <p:cNvSpPr txBox="1"/>
          <p:nvPr>
            <p:ph idx="2" type="body"/>
          </p:nvPr>
        </p:nvSpPr>
        <p:spPr>
          <a:xfrm>
            <a:off x="440525" y="897576"/>
            <a:ext cx="8262900" cy="3815100"/>
          </a:xfrm>
          <a:prstGeom prst="rect">
            <a:avLst/>
          </a:prstGeom>
        </p:spPr>
        <p:txBody>
          <a:bodyPr anchorCtr="0" anchor="t" bIns="27000" lIns="5400" spcFirstLastPara="1" rIns="0" wrap="square" tIns="27000">
            <a:normAutofit lnSpcReduction="20000"/>
          </a:bodyPr>
          <a:lstStyle/>
          <a:p>
            <a:pPr indent="0" lvl="0" marL="0" rtl="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</a:rPr>
              <a:t>Терминал Linux: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SzPts val="1500"/>
              <a:buChar char="●"/>
            </a:pPr>
            <a:r>
              <a:rPr lang="ru" sz="1500">
                <a:solidFill>
                  <a:schemeClr val="dk1"/>
                </a:solidFill>
              </a:rPr>
              <a:t>Сборка: </a:t>
            </a:r>
            <a:r>
              <a:rPr lang="ru" sz="1500">
                <a:solidFill>
                  <a:srgbClr val="741B47"/>
                </a:solidFill>
              </a:rPr>
              <a:t>g++</a:t>
            </a:r>
            <a:r>
              <a:rPr lang="ru" sz="1500">
                <a:solidFill>
                  <a:schemeClr val="dk1"/>
                </a:solidFill>
              </a:rPr>
              <a:t> main.cpp </a:t>
            </a:r>
            <a:r>
              <a:rPr lang="ru" sz="1500">
                <a:solidFill>
                  <a:srgbClr val="BF9000"/>
                </a:solidFill>
              </a:rPr>
              <a:t>-std</a:t>
            </a:r>
            <a:r>
              <a:rPr lang="ru" sz="1500">
                <a:solidFill>
                  <a:schemeClr val="dk1"/>
                </a:solidFill>
              </a:rPr>
              <a:t>=c++17 </a:t>
            </a:r>
            <a:r>
              <a:rPr lang="ru" sz="1500">
                <a:solidFill>
                  <a:srgbClr val="BF9000"/>
                </a:solidFill>
              </a:rPr>
              <a:t>-pthread</a:t>
            </a:r>
            <a:endParaRPr sz="1500">
              <a:solidFill>
                <a:srgbClr val="BF9000"/>
              </a:solidFill>
            </a:endParaRPr>
          </a:p>
          <a:p>
            <a:pPr indent="-3238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ru" sz="1500">
                <a:solidFill>
                  <a:schemeClr val="dk1"/>
                </a:solidFill>
              </a:rPr>
              <a:t>Запуск: ./a.out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ru" sz="1500">
                <a:solidFill>
                  <a:schemeClr val="dk1"/>
                </a:solidFill>
              </a:rPr>
              <a:t>Проверить работу с помощью netсat в терминале</a:t>
            </a:r>
            <a:br>
              <a:rPr lang="ru" sz="1500">
                <a:solidFill>
                  <a:schemeClr val="dk1"/>
                </a:solidFill>
              </a:rPr>
            </a:br>
            <a:r>
              <a:rPr lang="ru" sz="1500">
                <a:solidFill>
                  <a:srgbClr val="741B47"/>
                </a:solidFill>
              </a:rPr>
              <a:t>nc</a:t>
            </a:r>
            <a:r>
              <a:rPr lang="ru" sz="1500">
                <a:solidFill>
                  <a:schemeClr val="dk1"/>
                </a:solidFill>
              </a:rPr>
              <a:t> </a:t>
            </a:r>
            <a:r>
              <a:rPr lang="ru" sz="1500">
                <a:solidFill>
                  <a:srgbClr val="BF9000"/>
                </a:solidFill>
              </a:rPr>
              <a:t>localhost</a:t>
            </a:r>
            <a:r>
              <a:rPr lang="ru" sz="1500">
                <a:solidFill>
                  <a:schemeClr val="dk1"/>
                </a:solidFill>
              </a:rPr>
              <a:t> 12345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</a:rPr>
              <a:t>VSCode Windows: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ru" sz="1500">
                <a:solidFill>
                  <a:schemeClr val="dk1"/>
                </a:solidFill>
              </a:rPr>
              <a:t>в tasks.json в args добавить "-lws2_32" и "-lmswsock" и запустить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ru" sz="1500">
                <a:solidFill>
                  <a:schemeClr val="dk1"/>
                </a:solidFill>
              </a:rPr>
              <a:t>установить telnet командой:  pkgmgr /iu:"TelnetClient" 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ru" sz="1500">
                <a:solidFill>
                  <a:schemeClr val="dk1"/>
                </a:solidFill>
              </a:rPr>
              <a:t>запустить его: telnet localhost 12345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</a:rPr>
              <a:t>VSCode Linux: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ru" sz="1500">
                <a:solidFill>
                  <a:schemeClr val="dk1"/>
                </a:solidFill>
              </a:rPr>
              <a:t>в tasks.json в args добавить “-lpthreads”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ru" sz="1500">
                <a:solidFill>
                  <a:schemeClr val="dk1"/>
                </a:solidFill>
              </a:rPr>
              <a:t>Установить netcat командой: sudo apt update &amp;&amp; sudo apt install netcat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ru" sz="1500">
                <a:solidFill>
                  <a:schemeClr val="dk1"/>
                </a:solidFill>
              </a:rPr>
              <a:t>Проверить работу с помощью netсat в терминале</a:t>
            </a:r>
            <a:br>
              <a:rPr lang="ru" sz="1500">
                <a:solidFill>
                  <a:schemeClr val="dk1"/>
                </a:solidFill>
              </a:rPr>
            </a:br>
            <a:r>
              <a:rPr lang="ru" sz="1500">
                <a:solidFill>
                  <a:srgbClr val="741B47"/>
                </a:solidFill>
              </a:rPr>
              <a:t>nc</a:t>
            </a:r>
            <a:r>
              <a:rPr lang="ru" sz="1500">
                <a:solidFill>
                  <a:schemeClr val="dk1"/>
                </a:solidFill>
              </a:rPr>
              <a:t> </a:t>
            </a:r>
            <a:r>
              <a:rPr lang="ru" sz="1500">
                <a:solidFill>
                  <a:srgbClr val="BF9000"/>
                </a:solidFill>
              </a:rPr>
              <a:t>localhost</a:t>
            </a:r>
            <a:r>
              <a:rPr lang="ru" sz="1500">
                <a:solidFill>
                  <a:schemeClr val="dk1"/>
                </a:solidFill>
              </a:rPr>
              <a:t> 12345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BF9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220" name="Google Shape;220;p30"/>
          <p:cNvSpPr txBox="1"/>
          <p:nvPr>
            <p:ph idx="12" type="sldNum"/>
          </p:nvPr>
        </p:nvSpPr>
        <p:spPr>
          <a:xfrm>
            <a:off x="8365965" y="4804358"/>
            <a:ext cx="337500" cy="251700"/>
          </a:xfrm>
          <a:prstGeom prst="rect">
            <a:avLst/>
          </a:prstGeom>
        </p:spPr>
        <p:txBody>
          <a:bodyPr anchorCtr="0" anchor="t" bIns="34275" lIns="0" spcFirstLastPara="1" rIns="0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1"/>
          <p:cNvSpPr txBox="1"/>
          <p:nvPr>
            <p:ph type="title"/>
          </p:nvPr>
        </p:nvSpPr>
        <p:spPr>
          <a:xfrm>
            <a:off x="440531" y="255824"/>
            <a:ext cx="8262900" cy="549000"/>
          </a:xfrm>
          <a:prstGeom prst="rect">
            <a:avLst/>
          </a:prstGeom>
        </p:spPr>
        <p:txBody>
          <a:bodyPr anchorCtr="0" anchor="ctr" bIns="27000" lIns="24300" spcFirstLastPara="1" rIns="0" wrap="square" tIns="270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Boost.Serialization</a:t>
            </a:r>
            <a:endParaRPr/>
          </a:p>
        </p:txBody>
      </p:sp>
      <p:sp>
        <p:nvSpPr>
          <p:cNvPr id="226" name="Google Shape;226;p31"/>
          <p:cNvSpPr txBox="1"/>
          <p:nvPr>
            <p:ph idx="1" type="body"/>
          </p:nvPr>
        </p:nvSpPr>
        <p:spPr>
          <a:xfrm>
            <a:off x="440531" y="4788678"/>
            <a:ext cx="3375300" cy="273900"/>
          </a:xfrm>
          <a:prstGeom prst="rect">
            <a:avLst/>
          </a:prstGeom>
        </p:spPr>
        <p:txBody>
          <a:bodyPr anchorCtr="0" anchor="ctr" bIns="27000" lIns="24300" spcFirstLastPara="1" rIns="0" wrap="square" tIns="2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31"/>
          <p:cNvSpPr txBox="1"/>
          <p:nvPr>
            <p:ph idx="2" type="body"/>
          </p:nvPr>
        </p:nvSpPr>
        <p:spPr>
          <a:xfrm>
            <a:off x="440525" y="897576"/>
            <a:ext cx="8262900" cy="3815100"/>
          </a:xfrm>
          <a:prstGeom prst="rect">
            <a:avLst/>
          </a:prstGeom>
        </p:spPr>
        <p:txBody>
          <a:bodyPr anchorCtr="0" anchor="t" bIns="27000" lIns="5400" spcFirstLastPara="1" rIns="0" wrap="square" tIns="27000">
            <a:norm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700"/>
              <a:buFont typeface="PT Sans"/>
              <a:buChar char="❖"/>
            </a:pPr>
            <a:r>
              <a:rPr lang="ru" sz="1800"/>
              <a:t>Сериализация — процесс преобразования объекта в последовательность байт для сохранения или передачи.</a:t>
            </a:r>
            <a:endParaRPr sz="18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PT Sans"/>
              <a:buChar char="❖"/>
            </a:pPr>
            <a:r>
              <a:rPr lang="ru" sz="1800"/>
              <a:t>Позволяет сохранять состояние сложных объектов в файлы, базы данных или пересылать по сети.</a:t>
            </a:r>
            <a:endParaRPr sz="18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PT Sans"/>
              <a:buChar char="❖"/>
            </a:pPr>
            <a:r>
              <a:rPr lang="ru" sz="1800"/>
              <a:t>Обеспечивает удобное восстановление (десериализацию) объектов в исходном состоянии.</a:t>
            </a:r>
            <a:endParaRPr sz="18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PT Sans"/>
              <a:buChar char="❖"/>
            </a:pPr>
            <a:r>
              <a:rPr lang="ru" sz="1800"/>
              <a:t>Особенно важна для сложных структур с вложенными объектами, указателями и динамической памятью.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28" name="Google Shape;228;p31"/>
          <p:cNvSpPr txBox="1"/>
          <p:nvPr>
            <p:ph idx="12" type="sldNum"/>
          </p:nvPr>
        </p:nvSpPr>
        <p:spPr>
          <a:xfrm>
            <a:off x="8365965" y="4804358"/>
            <a:ext cx="337500" cy="251700"/>
          </a:xfrm>
          <a:prstGeom prst="rect">
            <a:avLst/>
          </a:prstGeom>
        </p:spPr>
        <p:txBody>
          <a:bodyPr anchorCtr="0" anchor="t" bIns="34275" lIns="0" spcFirstLastPara="1" rIns="0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2"/>
          <p:cNvSpPr txBox="1"/>
          <p:nvPr>
            <p:ph type="title"/>
          </p:nvPr>
        </p:nvSpPr>
        <p:spPr>
          <a:xfrm>
            <a:off x="440531" y="255824"/>
            <a:ext cx="8262900" cy="549000"/>
          </a:xfrm>
          <a:prstGeom prst="rect">
            <a:avLst/>
          </a:prstGeom>
        </p:spPr>
        <p:txBody>
          <a:bodyPr anchorCtr="0" anchor="ctr" bIns="27000" lIns="24300" spcFirstLastPara="1" rIns="0" wrap="square" tIns="270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Boost.Serialization</a:t>
            </a:r>
            <a:endParaRPr/>
          </a:p>
        </p:txBody>
      </p:sp>
      <p:sp>
        <p:nvSpPr>
          <p:cNvPr id="234" name="Google Shape;234;p32"/>
          <p:cNvSpPr txBox="1"/>
          <p:nvPr>
            <p:ph idx="1" type="body"/>
          </p:nvPr>
        </p:nvSpPr>
        <p:spPr>
          <a:xfrm>
            <a:off x="440531" y="4788678"/>
            <a:ext cx="3375300" cy="273900"/>
          </a:xfrm>
          <a:prstGeom prst="rect">
            <a:avLst/>
          </a:prstGeom>
        </p:spPr>
        <p:txBody>
          <a:bodyPr anchorCtr="0" anchor="ctr" bIns="27000" lIns="24300" spcFirstLastPara="1" rIns="0" wrap="square" tIns="2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32"/>
          <p:cNvSpPr txBox="1"/>
          <p:nvPr>
            <p:ph idx="2" type="body"/>
          </p:nvPr>
        </p:nvSpPr>
        <p:spPr>
          <a:xfrm>
            <a:off x="440531" y="897564"/>
            <a:ext cx="8262900" cy="3564300"/>
          </a:xfrm>
          <a:prstGeom prst="rect">
            <a:avLst/>
          </a:prstGeom>
        </p:spPr>
        <p:txBody>
          <a:bodyPr anchorCtr="0" anchor="t" bIns="27000" lIns="5400" spcFirstLastPara="1" rIns="0" wrap="square" tIns="27000">
            <a:normAutofit lnSpcReduction="1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PT Sans"/>
              <a:buChar char="❖"/>
            </a:pPr>
            <a:r>
              <a:rPr lang="ru" sz="1800"/>
              <a:t>Текстовая сериализация:</a:t>
            </a:r>
            <a:endParaRPr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PT Sans"/>
              <a:buChar char="➢"/>
            </a:pPr>
            <a:r>
              <a:rPr lang="ru" sz="1800"/>
              <a:t>Читаемый формат, полезен для отладки</a:t>
            </a:r>
            <a:endParaRPr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PT Sans"/>
              <a:buChar char="➢"/>
            </a:pPr>
            <a:r>
              <a:rPr lang="ru" sz="1800"/>
              <a:t>Сохраняет данные в удобном для чтения виде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PT Sans"/>
              <a:buChar char="❖"/>
            </a:pPr>
            <a:r>
              <a:rPr lang="ru" sz="1800"/>
              <a:t>Бинарная сериализация:</a:t>
            </a:r>
            <a:endParaRPr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PT Sans"/>
              <a:buChar char="➢"/>
            </a:pPr>
            <a:r>
              <a:rPr lang="ru" sz="1800"/>
              <a:t>Компактный и быстрый формат</a:t>
            </a:r>
            <a:endParaRPr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PT Sans"/>
              <a:buChar char="➢"/>
            </a:pPr>
            <a:r>
              <a:rPr lang="ru" sz="1800"/>
              <a:t>Эффективен для хранения и передачи, но не читаем человеком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PT Sans"/>
              <a:buChar char="❖"/>
            </a:pPr>
            <a:r>
              <a:rPr lang="ru" sz="1800"/>
              <a:t>XML сериализация:</a:t>
            </a:r>
            <a:endParaRPr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PT Sans"/>
              <a:buChar char="➢"/>
            </a:pPr>
            <a:r>
              <a:rPr lang="ru" sz="1800"/>
              <a:t>Формат с разметкой, позволяющий хорошо структурировать данные</a:t>
            </a:r>
            <a:endParaRPr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PT Sans"/>
              <a:buChar char="➢"/>
            </a:pPr>
            <a:r>
              <a:rPr lang="ru" sz="1800"/>
              <a:t>Используется для интеграции с другими системами и обеспечения прозрачности данных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36" name="Google Shape;236;p32"/>
          <p:cNvSpPr txBox="1"/>
          <p:nvPr>
            <p:ph idx="12" type="sldNum"/>
          </p:nvPr>
        </p:nvSpPr>
        <p:spPr>
          <a:xfrm>
            <a:off x="8365965" y="4804358"/>
            <a:ext cx="337500" cy="251700"/>
          </a:xfrm>
          <a:prstGeom prst="rect">
            <a:avLst/>
          </a:prstGeom>
        </p:spPr>
        <p:txBody>
          <a:bodyPr anchorCtr="0" anchor="t" bIns="34275" lIns="0" spcFirstLastPara="1" rIns="0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3"/>
          <p:cNvSpPr txBox="1"/>
          <p:nvPr>
            <p:ph type="ctrTitle"/>
          </p:nvPr>
        </p:nvSpPr>
        <p:spPr>
          <a:xfrm>
            <a:off x="629841" y="3139343"/>
            <a:ext cx="7885500" cy="678000"/>
          </a:xfrm>
          <a:prstGeom prst="rect">
            <a:avLst/>
          </a:prstGeom>
        </p:spPr>
        <p:txBody>
          <a:bodyPr anchorCtr="0" anchor="ctr" bIns="27000" lIns="5400" spcFirstLastPara="1" rIns="0" wrap="square" tIns="270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Мастер-класс</a:t>
            </a:r>
            <a:endParaRPr/>
          </a:p>
        </p:txBody>
      </p:sp>
      <p:sp>
        <p:nvSpPr>
          <p:cNvPr id="242" name="Google Shape;242;p3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34275" lIns="0" spcFirstLastPara="1" rIns="0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43" name="Google Shape;243;p33"/>
          <p:cNvSpPr txBox="1"/>
          <p:nvPr>
            <p:ph idx="1" type="body"/>
          </p:nvPr>
        </p:nvSpPr>
        <p:spPr>
          <a:xfrm>
            <a:off x="629841" y="4010118"/>
            <a:ext cx="7885500" cy="740400"/>
          </a:xfrm>
          <a:prstGeom prst="rect">
            <a:avLst/>
          </a:prstGeom>
        </p:spPr>
        <p:txBody>
          <a:bodyPr anchorCtr="0" anchor="t" bIns="27000" lIns="5400" spcFirstLastPara="1" rIns="0" wrap="square" tIns="270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4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Boost.Serialization XML</a:t>
            </a:r>
            <a:endParaRPr/>
          </a:p>
        </p:txBody>
      </p:sp>
      <p:sp>
        <p:nvSpPr>
          <p:cNvPr id="244" name="Google Shape;244;p33"/>
          <p:cNvSpPr txBox="1"/>
          <p:nvPr/>
        </p:nvSpPr>
        <p:spPr>
          <a:xfrm>
            <a:off x="4106175" y="2677425"/>
            <a:ext cx="5232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38761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 depends</a:t>
            </a:r>
            <a:endParaRPr>
              <a:solidFill>
                <a:srgbClr val="38761D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1C458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#include</a:t>
            </a:r>
            <a:r>
              <a:rPr lang="ru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>
                <a:solidFill>
                  <a:srgbClr val="38761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&lt;boost/archive/xml_oarchive.hpp&gt;</a:t>
            </a:r>
            <a:endParaRPr>
              <a:solidFill>
                <a:srgbClr val="38761D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1C458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#include</a:t>
            </a:r>
            <a:r>
              <a:rPr lang="ru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>
                <a:solidFill>
                  <a:srgbClr val="38761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&lt;boost/archive/xml_iarchive.hpp&gt;</a:t>
            </a:r>
            <a:endParaRPr>
              <a:solidFill>
                <a:srgbClr val="38761D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1C458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#include</a:t>
            </a:r>
            <a:r>
              <a:rPr lang="ru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>
                <a:solidFill>
                  <a:srgbClr val="38761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&lt;fstream&gt;</a:t>
            </a:r>
            <a:endParaRPr>
              <a:solidFill>
                <a:srgbClr val="38761D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1C458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#include</a:t>
            </a:r>
            <a:r>
              <a:rPr lang="ru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>
                <a:solidFill>
                  <a:srgbClr val="38761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&lt;string&gt;</a:t>
            </a:r>
            <a:endParaRPr>
              <a:solidFill>
                <a:srgbClr val="38761D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1C458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#include </a:t>
            </a:r>
            <a:r>
              <a:rPr lang="ru">
                <a:solidFill>
                  <a:srgbClr val="38761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&lt;iostream&gt;</a:t>
            </a:r>
            <a:endParaRPr>
              <a:solidFill>
                <a:srgbClr val="38761D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4"/>
          <p:cNvSpPr txBox="1"/>
          <p:nvPr>
            <p:ph type="title"/>
          </p:nvPr>
        </p:nvSpPr>
        <p:spPr>
          <a:xfrm>
            <a:off x="440531" y="255824"/>
            <a:ext cx="8262900" cy="549000"/>
          </a:xfrm>
          <a:prstGeom prst="rect">
            <a:avLst/>
          </a:prstGeom>
        </p:spPr>
        <p:txBody>
          <a:bodyPr anchorCtr="0" anchor="ctr" bIns="27000" lIns="24300" spcFirstLastPara="1" rIns="0" wrap="square" tIns="270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Boost.Serialization XML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50" name="Google Shape;250;p34"/>
          <p:cNvSpPr txBox="1"/>
          <p:nvPr>
            <p:ph idx="1" type="body"/>
          </p:nvPr>
        </p:nvSpPr>
        <p:spPr>
          <a:xfrm>
            <a:off x="440531" y="4788678"/>
            <a:ext cx="3375300" cy="273900"/>
          </a:xfrm>
          <a:prstGeom prst="rect">
            <a:avLst/>
          </a:prstGeom>
        </p:spPr>
        <p:txBody>
          <a:bodyPr anchorCtr="0" anchor="ctr" bIns="27000" lIns="24300" spcFirstLastPara="1" rIns="0" wrap="square" tIns="2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34"/>
          <p:cNvSpPr txBox="1"/>
          <p:nvPr>
            <p:ph idx="2" type="body"/>
          </p:nvPr>
        </p:nvSpPr>
        <p:spPr>
          <a:xfrm>
            <a:off x="440531" y="897564"/>
            <a:ext cx="8262900" cy="3564300"/>
          </a:xfrm>
          <a:prstGeom prst="rect">
            <a:avLst/>
          </a:prstGeom>
        </p:spPr>
        <p:txBody>
          <a:bodyPr anchorCtr="0" anchor="t" bIns="27000" lIns="5400" spcFirstLastPara="1" rIns="0" wrap="square" tIns="27000">
            <a:norm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8761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 Объявление класса для сериализации</a:t>
            </a:r>
            <a:endParaRPr sz="1100">
              <a:solidFill>
                <a:srgbClr val="38761D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BF9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100">
                <a:solidFill>
                  <a:srgbClr val="741B4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Person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10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BF9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10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1100">
                <a:solidFill>
                  <a:srgbClr val="741B4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std::string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100">
                <a:solidFill>
                  <a:srgbClr val="1C458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10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1100">
                <a:solidFill>
                  <a:srgbClr val="BF9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100">
                <a:solidFill>
                  <a:srgbClr val="1C458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age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10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1100">
                <a:solidFill>
                  <a:srgbClr val="741B4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Person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 = </a:t>
            </a:r>
            <a:r>
              <a:rPr lang="ru" sz="1100">
                <a:solidFill>
                  <a:srgbClr val="BF9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default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10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1100">
                <a:solidFill>
                  <a:srgbClr val="741B4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Person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100">
                <a:solidFill>
                  <a:srgbClr val="741B4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std::string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100">
                <a:solidFill>
                  <a:srgbClr val="1C458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1100">
                <a:solidFill>
                  <a:srgbClr val="BF9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100">
                <a:solidFill>
                  <a:srgbClr val="1C458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 : </a:t>
            </a:r>
            <a:r>
              <a:rPr lang="ru" sz="1100">
                <a:solidFill>
                  <a:srgbClr val="1C458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100">
                <a:solidFill>
                  <a:srgbClr val="741B4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std::move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100">
                <a:solidFill>
                  <a:srgbClr val="1C458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)), </a:t>
            </a:r>
            <a:r>
              <a:rPr lang="ru" sz="1100">
                <a:solidFill>
                  <a:srgbClr val="1C458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age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100">
                <a:solidFill>
                  <a:srgbClr val="1C458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 {}</a:t>
            </a:r>
            <a:endParaRPr sz="110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BF9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private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10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8761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// Разрешение доступа библиотеке Boost.Serialization для доступа к приватным членам</a:t>
            </a:r>
            <a:endParaRPr sz="1100">
              <a:solidFill>
                <a:srgbClr val="38761D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1100">
                <a:solidFill>
                  <a:srgbClr val="BF9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friend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100">
                <a:solidFill>
                  <a:srgbClr val="BF9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100">
                <a:solidFill>
                  <a:srgbClr val="741B4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boost::serialization::access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10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1100">
                <a:solidFill>
                  <a:srgbClr val="38761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 Шаблонная функция для сериализации/десериализации</a:t>
            </a:r>
            <a:endParaRPr sz="1100">
              <a:solidFill>
                <a:srgbClr val="38761D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1100">
                <a:solidFill>
                  <a:srgbClr val="BF9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template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ru" sz="1100">
                <a:solidFill>
                  <a:srgbClr val="BF9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100">
                <a:solidFill>
                  <a:srgbClr val="741B4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Archive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10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1100">
                <a:solidFill>
                  <a:srgbClr val="BF9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100">
                <a:solidFill>
                  <a:srgbClr val="1C458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serialize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100">
                <a:solidFill>
                  <a:srgbClr val="741B4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Archive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&amp; </a:t>
            </a:r>
            <a:r>
              <a:rPr lang="ru" sz="1100">
                <a:solidFill>
                  <a:srgbClr val="1C458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ar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1100">
                <a:solidFill>
                  <a:srgbClr val="BF9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100">
                <a:solidFill>
                  <a:srgbClr val="BF9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unsigned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100">
                <a:solidFill>
                  <a:srgbClr val="1C458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100">
                <a:solidFill>
                  <a:srgbClr val="38761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/*version*/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10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ru" sz="1100">
                <a:solidFill>
                  <a:srgbClr val="1C458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ar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&amp; </a:t>
            </a:r>
            <a:r>
              <a:rPr lang="ru" sz="1100">
                <a:solidFill>
                  <a:srgbClr val="1C458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BOOST_SERIALIZATION_NVP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100">
                <a:solidFill>
                  <a:srgbClr val="1C458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10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ru" sz="1100">
                <a:solidFill>
                  <a:srgbClr val="1C458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ar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&amp; </a:t>
            </a:r>
            <a:r>
              <a:rPr lang="ru" sz="1100">
                <a:solidFill>
                  <a:srgbClr val="1C458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BOOST_SERIALIZATION_NVP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100">
                <a:solidFill>
                  <a:srgbClr val="1C458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age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10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110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sz="110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11430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52" name="Google Shape;252;p34"/>
          <p:cNvSpPr txBox="1"/>
          <p:nvPr>
            <p:ph idx="12" type="sldNum"/>
          </p:nvPr>
        </p:nvSpPr>
        <p:spPr>
          <a:xfrm>
            <a:off x="8365965" y="4804358"/>
            <a:ext cx="337500" cy="251700"/>
          </a:xfrm>
          <a:prstGeom prst="rect">
            <a:avLst/>
          </a:prstGeom>
        </p:spPr>
        <p:txBody>
          <a:bodyPr anchorCtr="0" anchor="t" bIns="34275" lIns="0" spcFirstLastPara="1" rIns="0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5"/>
          <p:cNvSpPr txBox="1"/>
          <p:nvPr>
            <p:ph type="title"/>
          </p:nvPr>
        </p:nvSpPr>
        <p:spPr>
          <a:xfrm>
            <a:off x="440531" y="255824"/>
            <a:ext cx="8262900" cy="549000"/>
          </a:xfrm>
          <a:prstGeom prst="rect">
            <a:avLst/>
          </a:prstGeom>
        </p:spPr>
        <p:txBody>
          <a:bodyPr anchorCtr="0" anchor="ctr" bIns="27000" lIns="24300" spcFirstLastPara="1" rIns="0" wrap="square" tIns="270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Boost.Serialization XML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58" name="Google Shape;258;p35"/>
          <p:cNvSpPr txBox="1"/>
          <p:nvPr>
            <p:ph idx="1" type="body"/>
          </p:nvPr>
        </p:nvSpPr>
        <p:spPr>
          <a:xfrm>
            <a:off x="440531" y="4788678"/>
            <a:ext cx="3375300" cy="273900"/>
          </a:xfrm>
          <a:prstGeom prst="rect">
            <a:avLst/>
          </a:prstGeom>
        </p:spPr>
        <p:txBody>
          <a:bodyPr anchorCtr="0" anchor="ctr" bIns="27000" lIns="24300" spcFirstLastPara="1" rIns="0" wrap="square" tIns="2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35"/>
          <p:cNvSpPr txBox="1"/>
          <p:nvPr>
            <p:ph idx="2" type="body"/>
          </p:nvPr>
        </p:nvSpPr>
        <p:spPr>
          <a:xfrm>
            <a:off x="440531" y="897564"/>
            <a:ext cx="8262900" cy="3564300"/>
          </a:xfrm>
          <a:prstGeom prst="rect">
            <a:avLst/>
          </a:prstGeom>
        </p:spPr>
        <p:txBody>
          <a:bodyPr anchorCtr="0" anchor="t" bIns="27000" lIns="5400" spcFirstLastPara="1" rIns="0" wrap="square" tIns="27000">
            <a:norm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BF9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100">
                <a:solidFill>
                  <a:srgbClr val="1C458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save_to_xml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100">
                <a:solidFill>
                  <a:srgbClr val="BF9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100">
                <a:solidFill>
                  <a:srgbClr val="741B4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Person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&amp; </a:t>
            </a:r>
            <a:r>
              <a:rPr lang="ru" sz="1100">
                <a:solidFill>
                  <a:srgbClr val="1C458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1100">
                <a:solidFill>
                  <a:srgbClr val="BF9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100">
                <a:solidFill>
                  <a:srgbClr val="741B4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std::string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&amp; </a:t>
            </a:r>
            <a:r>
              <a:rPr lang="ru" sz="1100">
                <a:solidFill>
                  <a:srgbClr val="1C458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filename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10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1100">
                <a:solidFill>
                  <a:srgbClr val="741B4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std::ofstream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100">
                <a:solidFill>
                  <a:srgbClr val="1C458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ofs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100">
                <a:solidFill>
                  <a:srgbClr val="1C458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filename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 </a:t>
            </a:r>
            <a:r>
              <a:rPr lang="ru" sz="1100">
                <a:solidFill>
                  <a:srgbClr val="38761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 Создаем поток файла для записи</a:t>
            </a:r>
            <a:endParaRPr sz="1100">
              <a:solidFill>
                <a:srgbClr val="38761D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1100">
                <a:solidFill>
                  <a:srgbClr val="741B4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boost::archive::xml_oarchive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100">
                <a:solidFill>
                  <a:srgbClr val="1C458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oa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100">
                <a:solidFill>
                  <a:srgbClr val="1C458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ofs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10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1100">
                <a:solidFill>
                  <a:srgbClr val="1C458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oa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&lt;&lt; </a:t>
            </a:r>
            <a:r>
              <a:rPr lang="ru" sz="1100">
                <a:solidFill>
                  <a:srgbClr val="1C458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BOOST_SERIALIZATION_NVP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100">
                <a:solidFill>
                  <a:srgbClr val="1C458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10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10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741B4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Person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100">
                <a:solidFill>
                  <a:srgbClr val="1C458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load_from_xml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100">
                <a:solidFill>
                  <a:srgbClr val="BF9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100">
                <a:solidFill>
                  <a:srgbClr val="741B4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std::string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&amp; </a:t>
            </a:r>
            <a:r>
              <a:rPr lang="ru" sz="1100">
                <a:solidFill>
                  <a:srgbClr val="1C458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filename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10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1100">
                <a:solidFill>
                  <a:srgbClr val="741B4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Person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100">
                <a:solidFill>
                  <a:srgbClr val="1C458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 </a:t>
            </a:r>
            <a:r>
              <a:rPr lang="ru" sz="1100">
                <a:solidFill>
                  <a:srgbClr val="38761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 Пустой объект для загрузки данных</a:t>
            </a:r>
            <a:endParaRPr sz="1100">
              <a:solidFill>
                <a:srgbClr val="38761D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1100">
                <a:solidFill>
                  <a:srgbClr val="741B4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std::ifstream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100">
                <a:solidFill>
                  <a:srgbClr val="1C458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ifs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100">
                <a:solidFill>
                  <a:srgbClr val="1C458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filename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 </a:t>
            </a:r>
            <a:r>
              <a:rPr lang="ru" sz="1100">
                <a:solidFill>
                  <a:srgbClr val="38761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 Создаем поток файла для чтения</a:t>
            </a:r>
            <a:endParaRPr sz="1100">
              <a:solidFill>
                <a:srgbClr val="38761D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1100">
                <a:solidFill>
                  <a:srgbClr val="741B4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boost::archive::xml_iarchive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100">
                <a:solidFill>
                  <a:srgbClr val="1C458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ia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100">
                <a:solidFill>
                  <a:srgbClr val="1C458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ifs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10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1100">
                <a:solidFill>
                  <a:srgbClr val="1C458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ia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&gt;&gt; </a:t>
            </a:r>
            <a:r>
              <a:rPr lang="ru" sz="1100">
                <a:solidFill>
                  <a:srgbClr val="1C458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BOOST_SERIALIZATION_NVP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100">
                <a:solidFill>
                  <a:srgbClr val="1C458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10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1100">
                <a:solidFill>
                  <a:srgbClr val="BF9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100">
                <a:solidFill>
                  <a:srgbClr val="1C458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10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800"/>
          </a:p>
          <a:p>
            <a:pPr indent="0" lvl="0" marL="0" marR="11430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60" name="Google Shape;260;p35"/>
          <p:cNvSpPr txBox="1"/>
          <p:nvPr>
            <p:ph idx="12" type="sldNum"/>
          </p:nvPr>
        </p:nvSpPr>
        <p:spPr>
          <a:xfrm>
            <a:off x="8365965" y="4804358"/>
            <a:ext cx="337500" cy="251700"/>
          </a:xfrm>
          <a:prstGeom prst="rect">
            <a:avLst/>
          </a:prstGeom>
        </p:spPr>
        <p:txBody>
          <a:bodyPr anchorCtr="0" anchor="t" bIns="34275" lIns="0" spcFirstLastPara="1" rIns="0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6"/>
          <p:cNvSpPr txBox="1"/>
          <p:nvPr>
            <p:ph type="title"/>
          </p:nvPr>
        </p:nvSpPr>
        <p:spPr>
          <a:xfrm>
            <a:off x="440531" y="255824"/>
            <a:ext cx="8262900" cy="549000"/>
          </a:xfrm>
          <a:prstGeom prst="rect">
            <a:avLst/>
          </a:prstGeom>
        </p:spPr>
        <p:txBody>
          <a:bodyPr anchorCtr="0" anchor="ctr" bIns="27000" lIns="24300" spcFirstLastPara="1" rIns="0" wrap="square" tIns="270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Boost.Serialization XML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66" name="Google Shape;266;p36"/>
          <p:cNvSpPr txBox="1"/>
          <p:nvPr>
            <p:ph idx="1" type="body"/>
          </p:nvPr>
        </p:nvSpPr>
        <p:spPr>
          <a:xfrm>
            <a:off x="440531" y="4788678"/>
            <a:ext cx="3375300" cy="273900"/>
          </a:xfrm>
          <a:prstGeom prst="rect">
            <a:avLst/>
          </a:prstGeom>
        </p:spPr>
        <p:txBody>
          <a:bodyPr anchorCtr="0" anchor="ctr" bIns="27000" lIns="24300" spcFirstLastPara="1" rIns="0" wrap="square" tIns="2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36"/>
          <p:cNvSpPr txBox="1"/>
          <p:nvPr>
            <p:ph idx="2" type="body"/>
          </p:nvPr>
        </p:nvSpPr>
        <p:spPr>
          <a:xfrm>
            <a:off x="440531" y="897564"/>
            <a:ext cx="8262900" cy="3564300"/>
          </a:xfrm>
          <a:prstGeom prst="rect">
            <a:avLst/>
          </a:prstGeom>
        </p:spPr>
        <p:txBody>
          <a:bodyPr anchorCtr="0" anchor="t" bIns="27000" lIns="5400" spcFirstLastPara="1" rIns="0" wrap="square" tIns="27000">
            <a:norm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BF9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100">
                <a:solidFill>
                  <a:srgbClr val="1C458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 {</a:t>
            </a:r>
            <a:endParaRPr sz="110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1100">
                <a:solidFill>
                  <a:srgbClr val="741B4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Person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100">
                <a:solidFill>
                  <a:srgbClr val="1C458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person_in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100">
                <a:solidFill>
                  <a:srgbClr val="38761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"Alice"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1100">
                <a:solidFill>
                  <a:srgbClr val="1C458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30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10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1100">
                <a:solidFill>
                  <a:srgbClr val="38761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 Сохранение в XML</a:t>
            </a:r>
            <a:endParaRPr sz="1100">
              <a:solidFill>
                <a:srgbClr val="38761D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1100">
                <a:solidFill>
                  <a:srgbClr val="1C458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save_to_xml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100">
                <a:solidFill>
                  <a:srgbClr val="1C458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person_in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1100">
                <a:solidFill>
                  <a:srgbClr val="38761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"person.xml"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10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1100">
                <a:solidFill>
                  <a:srgbClr val="741B4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std::cout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&lt;&lt; </a:t>
            </a:r>
            <a:r>
              <a:rPr lang="ru" sz="1100">
                <a:solidFill>
                  <a:srgbClr val="38761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"Объект сохранен в person.xml"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&lt;&lt; </a:t>
            </a:r>
            <a:r>
              <a:rPr lang="ru" sz="1100">
                <a:solidFill>
                  <a:srgbClr val="741B4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std::endl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10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1100">
                <a:solidFill>
                  <a:srgbClr val="38761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 Загрузка из XML</a:t>
            </a:r>
            <a:endParaRPr sz="1100">
              <a:solidFill>
                <a:srgbClr val="38761D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1100">
                <a:solidFill>
                  <a:srgbClr val="741B4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Person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100">
                <a:solidFill>
                  <a:srgbClr val="1C458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person_out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ru" sz="1100">
                <a:solidFill>
                  <a:srgbClr val="1C458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load_from_xml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100">
                <a:solidFill>
                  <a:srgbClr val="38761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"person.xml"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10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1100">
                <a:solidFill>
                  <a:srgbClr val="741B4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std::cout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&lt;&lt; </a:t>
            </a:r>
            <a:r>
              <a:rPr lang="ru" sz="1100">
                <a:solidFill>
                  <a:srgbClr val="38761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"Загруженный объект: "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&lt;&lt; </a:t>
            </a:r>
            <a:r>
              <a:rPr lang="ru" sz="1100">
                <a:solidFill>
                  <a:srgbClr val="1C458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person_out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100">
                <a:solidFill>
                  <a:srgbClr val="1C458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&lt;&lt; </a:t>
            </a:r>
            <a:r>
              <a:rPr lang="ru" sz="1100">
                <a:solidFill>
                  <a:srgbClr val="38761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", "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&lt;&lt; </a:t>
            </a:r>
            <a:r>
              <a:rPr lang="ru" sz="1100">
                <a:solidFill>
                  <a:srgbClr val="1C458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person_out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100">
                <a:solidFill>
                  <a:srgbClr val="1C458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age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&lt;&lt; </a:t>
            </a:r>
            <a:r>
              <a:rPr lang="ru" sz="1100">
                <a:solidFill>
                  <a:srgbClr val="741B4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std::endl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10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800"/>
          </a:p>
          <a:p>
            <a:pPr indent="0" lvl="0" marL="0" marR="11430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marR="11430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marR="11430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68" name="Google Shape;268;p36"/>
          <p:cNvSpPr txBox="1"/>
          <p:nvPr>
            <p:ph idx="12" type="sldNum"/>
          </p:nvPr>
        </p:nvSpPr>
        <p:spPr>
          <a:xfrm>
            <a:off x="8365965" y="4804358"/>
            <a:ext cx="337500" cy="251700"/>
          </a:xfrm>
          <a:prstGeom prst="rect">
            <a:avLst/>
          </a:prstGeom>
        </p:spPr>
        <p:txBody>
          <a:bodyPr anchorCtr="0" anchor="t" bIns="34275" lIns="0" spcFirstLastPara="1" rIns="0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7"/>
          <p:cNvSpPr txBox="1"/>
          <p:nvPr>
            <p:ph type="title"/>
          </p:nvPr>
        </p:nvSpPr>
        <p:spPr>
          <a:xfrm>
            <a:off x="440531" y="255824"/>
            <a:ext cx="8262900" cy="549000"/>
          </a:xfrm>
          <a:prstGeom prst="rect">
            <a:avLst/>
          </a:prstGeom>
        </p:spPr>
        <p:txBody>
          <a:bodyPr anchorCtr="0" anchor="ctr" bIns="27000" lIns="24300" spcFirstLastPara="1" rIns="0" wrap="square" tIns="270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Boost.Serialization XML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74" name="Google Shape;274;p37"/>
          <p:cNvSpPr txBox="1"/>
          <p:nvPr>
            <p:ph idx="1" type="body"/>
          </p:nvPr>
        </p:nvSpPr>
        <p:spPr>
          <a:xfrm>
            <a:off x="440531" y="4788678"/>
            <a:ext cx="3375300" cy="273900"/>
          </a:xfrm>
          <a:prstGeom prst="rect">
            <a:avLst/>
          </a:prstGeom>
        </p:spPr>
        <p:txBody>
          <a:bodyPr anchorCtr="0" anchor="ctr" bIns="27000" lIns="24300" spcFirstLastPara="1" rIns="0" wrap="square" tIns="2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37"/>
          <p:cNvSpPr txBox="1"/>
          <p:nvPr>
            <p:ph idx="2" type="body"/>
          </p:nvPr>
        </p:nvSpPr>
        <p:spPr>
          <a:xfrm>
            <a:off x="440531" y="897564"/>
            <a:ext cx="8262900" cy="3564300"/>
          </a:xfrm>
          <a:prstGeom prst="rect">
            <a:avLst/>
          </a:prstGeom>
        </p:spPr>
        <p:txBody>
          <a:bodyPr anchorCtr="0" anchor="t" bIns="27000" lIns="5400" spcFirstLastPara="1" rIns="0" wrap="square" tIns="27000">
            <a:normAutofit/>
          </a:bodyPr>
          <a:lstStyle/>
          <a:p>
            <a:pPr indent="0" lvl="0" marL="0" marR="11430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/>
              <a:t>Сборка и запуск в терминале Linux: </a:t>
            </a:r>
            <a:endParaRPr sz="1800"/>
          </a:p>
          <a:p>
            <a:pPr indent="-342900" lvl="0" marL="457200" marR="11430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 sz="1800">
                <a:solidFill>
                  <a:srgbClr val="741B47"/>
                </a:solidFill>
              </a:rPr>
              <a:t>g++</a:t>
            </a:r>
            <a:r>
              <a:rPr lang="ru" sz="1800"/>
              <a:t> main.cpp </a:t>
            </a:r>
            <a:r>
              <a:rPr lang="ru" sz="1800">
                <a:solidFill>
                  <a:srgbClr val="BF9000"/>
                </a:solidFill>
              </a:rPr>
              <a:t>-lboost_serialization</a:t>
            </a:r>
            <a:r>
              <a:rPr lang="ru" sz="1800"/>
              <a:t> </a:t>
            </a:r>
            <a:r>
              <a:rPr lang="ru" sz="1800">
                <a:solidFill>
                  <a:srgbClr val="BF9000"/>
                </a:solidFill>
              </a:rPr>
              <a:t>-std</a:t>
            </a:r>
            <a:r>
              <a:rPr lang="ru" sz="1800"/>
              <a:t>=c++17</a:t>
            </a:r>
            <a:endParaRPr sz="1800"/>
          </a:p>
          <a:p>
            <a:pPr indent="-342900" lvl="0" marL="457200" marR="11430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 sz="1800"/>
              <a:t>./a.out</a:t>
            </a:r>
            <a:endParaRPr sz="1800"/>
          </a:p>
          <a:p>
            <a:pPr indent="0" lvl="0" marL="0" marR="11430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/>
              <a:t>Запуск в VSCode Windows:</a:t>
            </a:r>
            <a:endParaRPr sz="1800"/>
          </a:p>
          <a:p>
            <a:pPr indent="-342900" lvl="0" marL="457200" marR="11430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 sz="1800"/>
              <a:t>Добавить в tasks.json в args "-lboost_serialization-mt" </a:t>
            </a:r>
            <a:endParaRPr sz="1800"/>
          </a:p>
          <a:p>
            <a:pPr indent="0" lvl="0" marL="0" marR="11430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/>
              <a:t>Запуск в VSCode Linux:</a:t>
            </a:r>
            <a:endParaRPr sz="1800"/>
          </a:p>
          <a:p>
            <a:pPr indent="-342900" lvl="0" marL="457200" marR="11430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 sz="1800">
                <a:solidFill>
                  <a:schemeClr val="dk1"/>
                </a:solidFill>
              </a:rPr>
              <a:t>Добавить в tasks.json в args "-lboost_serialization"</a:t>
            </a:r>
            <a:endParaRPr sz="1800"/>
          </a:p>
        </p:txBody>
      </p:sp>
      <p:sp>
        <p:nvSpPr>
          <p:cNvPr id="276" name="Google Shape;276;p37"/>
          <p:cNvSpPr txBox="1"/>
          <p:nvPr>
            <p:ph idx="12" type="sldNum"/>
          </p:nvPr>
        </p:nvSpPr>
        <p:spPr>
          <a:xfrm>
            <a:off x="8365965" y="4804358"/>
            <a:ext cx="337500" cy="251700"/>
          </a:xfrm>
          <a:prstGeom prst="rect">
            <a:avLst/>
          </a:prstGeom>
        </p:spPr>
        <p:txBody>
          <a:bodyPr anchorCtr="0" anchor="t" bIns="34275" lIns="0" spcFirstLastPara="1" rIns="0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8"/>
          <p:cNvSpPr txBox="1"/>
          <p:nvPr>
            <p:ph type="title"/>
          </p:nvPr>
        </p:nvSpPr>
        <p:spPr>
          <a:xfrm>
            <a:off x="440531" y="255824"/>
            <a:ext cx="8262900" cy="549000"/>
          </a:xfrm>
          <a:prstGeom prst="rect">
            <a:avLst/>
          </a:prstGeom>
        </p:spPr>
        <p:txBody>
          <a:bodyPr anchorCtr="0" anchor="ctr" bIns="27000" lIns="24300" spcFirstLastPara="1" rIns="0" wrap="square" tIns="270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Boost.Any и Boost.Variant / Boost.Optional</a:t>
            </a:r>
            <a:endParaRPr/>
          </a:p>
        </p:txBody>
      </p:sp>
      <p:sp>
        <p:nvSpPr>
          <p:cNvPr id="282" name="Google Shape;282;p38"/>
          <p:cNvSpPr txBox="1"/>
          <p:nvPr>
            <p:ph idx="1" type="body"/>
          </p:nvPr>
        </p:nvSpPr>
        <p:spPr>
          <a:xfrm>
            <a:off x="440531" y="4788678"/>
            <a:ext cx="3375300" cy="273900"/>
          </a:xfrm>
          <a:prstGeom prst="rect">
            <a:avLst/>
          </a:prstGeom>
        </p:spPr>
        <p:txBody>
          <a:bodyPr anchorCtr="0" anchor="ctr" bIns="27000" lIns="24300" spcFirstLastPara="1" rIns="0" wrap="square" tIns="2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38"/>
          <p:cNvSpPr txBox="1"/>
          <p:nvPr>
            <p:ph idx="2" type="body"/>
          </p:nvPr>
        </p:nvSpPr>
        <p:spPr>
          <a:xfrm>
            <a:off x="440531" y="897564"/>
            <a:ext cx="8262900" cy="3564300"/>
          </a:xfrm>
          <a:prstGeom prst="rect">
            <a:avLst/>
          </a:prstGeom>
        </p:spPr>
        <p:txBody>
          <a:bodyPr anchorCtr="0" anchor="t" bIns="27000" lIns="5400" spcFirstLastPara="1" rIns="0" wrap="square" tIns="27000">
            <a:norm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PT Sans"/>
              <a:buChar char="❖"/>
            </a:pPr>
            <a:r>
              <a:rPr lang="ru" sz="1800"/>
              <a:t>boost::any</a:t>
            </a:r>
            <a:endParaRPr sz="1800"/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PT Sans"/>
              <a:buChar char="➢"/>
            </a:pPr>
            <a:r>
              <a:rPr lang="ru" sz="1800"/>
              <a:t>Универсальный контейнер для хранения значения любого типа без необходимости знать тип на этапе компиляции. Он позволяет сохранять объекты разных типов в одном контейнере, вытаскивая их позже с помощью приведения через boost::any_cast. Особенно полезен для случаев, когда тип данных становится известен только во время выполнения (runtime).</a:t>
            </a:r>
            <a:endParaRPr sz="1800"/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PT Sans"/>
              <a:buChar char="➢"/>
            </a:pPr>
            <a:r>
              <a:rPr lang="ru" sz="1800"/>
              <a:t>Аналог в стандарте — std::any (с C++17)</a:t>
            </a:r>
            <a:endParaRPr sz="1800"/>
          </a:p>
          <a:p>
            <a:pPr indent="0" lvl="0" marL="114300" marR="11430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84" name="Google Shape;284;p38"/>
          <p:cNvSpPr txBox="1"/>
          <p:nvPr>
            <p:ph idx="12" type="sldNum"/>
          </p:nvPr>
        </p:nvSpPr>
        <p:spPr>
          <a:xfrm>
            <a:off x="8365965" y="4804358"/>
            <a:ext cx="337500" cy="251700"/>
          </a:xfrm>
          <a:prstGeom prst="rect">
            <a:avLst/>
          </a:prstGeom>
        </p:spPr>
        <p:txBody>
          <a:bodyPr anchorCtr="0" anchor="t" bIns="34275" lIns="0" spcFirstLastPara="1" rIns="0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9"/>
          <p:cNvSpPr txBox="1"/>
          <p:nvPr>
            <p:ph type="title"/>
          </p:nvPr>
        </p:nvSpPr>
        <p:spPr>
          <a:xfrm>
            <a:off x="440531" y="255824"/>
            <a:ext cx="8262900" cy="549000"/>
          </a:xfrm>
          <a:prstGeom prst="rect">
            <a:avLst/>
          </a:prstGeom>
        </p:spPr>
        <p:txBody>
          <a:bodyPr anchorCtr="0" anchor="ctr" bIns="27000" lIns="24300" spcFirstLastPara="1" rIns="0" wrap="square" tIns="270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Boost.Any и Boost.Variant / Boost.Optional</a:t>
            </a:r>
            <a:endParaRPr/>
          </a:p>
        </p:txBody>
      </p:sp>
      <p:sp>
        <p:nvSpPr>
          <p:cNvPr id="290" name="Google Shape;290;p39"/>
          <p:cNvSpPr txBox="1"/>
          <p:nvPr>
            <p:ph idx="1" type="body"/>
          </p:nvPr>
        </p:nvSpPr>
        <p:spPr>
          <a:xfrm>
            <a:off x="440531" y="4788678"/>
            <a:ext cx="3375300" cy="273900"/>
          </a:xfrm>
          <a:prstGeom prst="rect">
            <a:avLst/>
          </a:prstGeom>
        </p:spPr>
        <p:txBody>
          <a:bodyPr anchorCtr="0" anchor="ctr" bIns="27000" lIns="24300" spcFirstLastPara="1" rIns="0" wrap="square" tIns="2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39"/>
          <p:cNvSpPr txBox="1"/>
          <p:nvPr>
            <p:ph idx="2" type="body"/>
          </p:nvPr>
        </p:nvSpPr>
        <p:spPr>
          <a:xfrm>
            <a:off x="440531" y="897564"/>
            <a:ext cx="8262900" cy="3564300"/>
          </a:xfrm>
          <a:prstGeom prst="rect">
            <a:avLst/>
          </a:prstGeom>
        </p:spPr>
        <p:txBody>
          <a:bodyPr anchorCtr="0" anchor="t" bIns="27000" lIns="5400" spcFirstLastPara="1" rIns="0" wrap="square" tIns="27000">
            <a:norm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PT Sans"/>
              <a:buChar char="❖"/>
            </a:pPr>
            <a:r>
              <a:rPr lang="ru" sz="1800"/>
              <a:t>boost::variant</a:t>
            </a:r>
            <a:endParaRPr sz="1800"/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PT Sans"/>
              <a:buChar char="➢"/>
            </a:pPr>
            <a:r>
              <a:rPr lang="ru" sz="1800"/>
              <a:t>Типизированное объединение (discriminated union) — контейнер, который хранит значение одного из нескольких заранее определенных типов, в том числе собственных. Гарантирует, что внутри всегда хранится именно один из заданных типов и позволяет безопасно определить и проверить текущий тип через API (например, which(), visitor).</a:t>
            </a:r>
            <a:endParaRPr sz="1800"/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PT Sans"/>
              <a:buChar char="➢"/>
            </a:pPr>
            <a:r>
              <a:rPr lang="ru" sz="1800"/>
              <a:t>Используется до появления std::variant в C++17</a:t>
            </a:r>
            <a:endParaRPr sz="1800"/>
          </a:p>
          <a:p>
            <a:pPr indent="0" lvl="0" marL="114300" marR="11430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114300" marR="11430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92" name="Google Shape;292;p39"/>
          <p:cNvSpPr txBox="1"/>
          <p:nvPr>
            <p:ph idx="12" type="sldNum"/>
          </p:nvPr>
        </p:nvSpPr>
        <p:spPr>
          <a:xfrm>
            <a:off x="8365965" y="4804358"/>
            <a:ext cx="337500" cy="251700"/>
          </a:xfrm>
          <a:prstGeom prst="rect">
            <a:avLst/>
          </a:prstGeom>
        </p:spPr>
        <p:txBody>
          <a:bodyPr anchorCtr="0" anchor="t" bIns="34275" lIns="0" spcFirstLastPara="1" rIns="0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40"/>
          <p:cNvSpPr txBox="1"/>
          <p:nvPr>
            <p:ph type="title"/>
          </p:nvPr>
        </p:nvSpPr>
        <p:spPr>
          <a:xfrm>
            <a:off x="440531" y="255824"/>
            <a:ext cx="8262900" cy="549000"/>
          </a:xfrm>
          <a:prstGeom prst="rect">
            <a:avLst/>
          </a:prstGeom>
        </p:spPr>
        <p:txBody>
          <a:bodyPr anchorCtr="0" anchor="ctr" bIns="27000" lIns="24300" spcFirstLastPara="1" rIns="0" wrap="square" tIns="270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Boost.Any и Boost.Variant / Boost.Optional</a:t>
            </a:r>
            <a:endParaRPr/>
          </a:p>
        </p:txBody>
      </p:sp>
      <p:sp>
        <p:nvSpPr>
          <p:cNvPr id="298" name="Google Shape;298;p40"/>
          <p:cNvSpPr txBox="1"/>
          <p:nvPr>
            <p:ph idx="1" type="body"/>
          </p:nvPr>
        </p:nvSpPr>
        <p:spPr>
          <a:xfrm>
            <a:off x="440531" y="4788678"/>
            <a:ext cx="3375300" cy="273900"/>
          </a:xfrm>
          <a:prstGeom prst="rect">
            <a:avLst/>
          </a:prstGeom>
        </p:spPr>
        <p:txBody>
          <a:bodyPr anchorCtr="0" anchor="ctr" bIns="27000" lIns="24300" spcFirstLastPara="1" rIns="0" wrap="square" tIns="2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40"/>
          <p:cNvSpPr txBox="1"/>
          <p:nvPr>
            <p:ph idx="2" type="body"/>
          </p:nvPr>
        </p:nvSpPr>
        <p:spPr>
          <a:xfrm>
            <a:off x="440531" y="897564"/>
            <a:ext cx="8262900" cy="3564300"/>
          </a:xfrm>
          <a:prstGeom prst="rect">
            <a:avLst/>
          </a:prstGeom>
        </p:spPr>
        <p:txBody>
          <a:bodyPr anchorCtr="0" anchor="t" bIns="27000" lIns="5400" spcFirstLastPara="1" rIns="0" wrap="square" tIns="27000">
            <a:norm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PT Sans"/>
              <a:buChar char="❖"/>
            </a:pPr>
            <a:r>
              <a:rPr lang="ru" sz="1800"/>
              <a:t>boost::optional</a:t>
            </a:r>
            <a:endParaRPr sz="1800"/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PT Sans"/>
              <a:buChar char="➢"/>
            </a:pPr>
            <a:r>
              <a:rPr lang="ru" sz="1800"/>
              <a:t>Обертка для значения, которое может присутствовать или отсутствовать — "опциональный" тип</a:t>
            </a:r>
            <a:endParaRPr sz="1800"/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PT Sans"/>
              <a:buChar char="➢"/>
            </a:pPr>
            <a:r>
              <a:rPr lang="ru" sz="1800"/>
              <a:t>Аналог std::optional (появился в C++17)</a:t>
            </a:r>
            <a:endParaRPr sz="1800"/>
          </a:p>
          <a:p>
            <a:pPr indent="0" lvl="0" marL="114300" marR="11430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114300" marR="11430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00" name="Google Shape;300;p40"/>
          <p:cNvSpPr txBox="1"/>
          <p:nvPr>
            <p:ph idx="12" type="sldNum"/>
          </p:nvPr>
        </p:nvSpPr>
        <p:spPr>
          <a:xfrm>
            <a:off x="8365965" y="4804358"/>
            <a:ext cx="337500" cy="251700"/>
          </a:xfrm>
          <a:prstGeom prst="rect">
            <a:avLst/>
          </a:prstGeom>
        </p:spPr>
        <p:txBody>
          <a:bodyPr anchorCtr="0" anchor="t" bIns="34275" lIns="0" spcFirstLastPara="1" rIns="0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1"/>
          <p:cNvSpPr txBox="1"/>
          <p:nvPr>
            <p:ph type="title"/>
          </p:nvPr>
        </p:nvSpPr>
        <p:spPr>
          <a:xfrm>
            <a:off x="440531" y="255824"/>
            <a:ext cx="8262900" cy="549000"/>
          </a:xfrm>
          <a:prstGeom prst="rect">
            <a:avLst/>
          </a:prstGeom>
        </p:spPr>
        <p:txBody>
          <a:bodyPr anchorCtr="0" anchor="ctr" bIns="27000" lIns="24300" spcFirstLastPara="1" rIns="0" wrap="square" tIns="270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Boost.Fusion и Boost.MPL</a:t>
            </a:r>
            <a:endParaRPr/>
          </a:p>
        </p:txBody>
      </p:sp>
      <p:sp>
        <p:nvSpPr>
          <p:cNvPr id="306" name="Google Shape;306;p41"/>
          <p:cNvSpPr txBox="1"/>
          <p:nvPr>
            <p:ph idx="1" type="body"/>
          </p:nvPr>
        </p:nvSpPr>
        <p:spPr>
          <a:xfrm>
            <a:off x="440531" y="4788678"/>
            <a:ext cx="3375300" cy="273900"/>
          </a:xfrm>
          <a:prstGeom prst="rect">
            <a:avLst/>
          </a:prstGeom>
        </p:spPr>
        <p:txBody>
          <a:bodyPr anchorCtr="0" anchor="ctr" bIns="27000" lIns="24300" spcFirstLastPara="1" rIns="0" wrap="square" tIns="2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41"/>
          <p:cNvSpPr txBox="1"/>
          <p:nvPr>
            <p:ph idx="2" type="body"/>
          </p:nvPr>
        </p:nvSpPr>
        <p:spPr>
          <a:xfrm>
            <a:off x="440531" y="897564"/>
            <a:ext cx="8262900" cy="3564300"/>
          </a:xfrm>
          <a:prstGeom prst="rect">
            <a:avLst/>
          </a:prstGeom>
        </p:spPr>
        <p:txBody>
          <a:bodyPr anchorCtr="0" anchor="t" bIns="27000" lIns="5400" spcFirstLastPara="1" rIns="0" wrap="square" tIns="27000">
            <a:normAutofit lnSpcReduction="10000"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PT Sans"/>
              <a:buChar char="❖"/>
            </a:pPr>
            <a:r>
              <a:rPr lang="ru" sz="1800"/>
              <a:t>Метапрограммирование — программирование, которое выполняется на этапе компиляции с помощью шаблонов.</a:t>
            </a:r>
            <a:endParaRPr sz="1800"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PT Sans"/>
              <a:buChar char="❖"/>
            </a:pPr>
            <a:r>
              <a:rPr lang="ru" sz="1800"/>
              <a:t>Позволяет писать код, который генерирует или проверяет другой код во время компиляции. Основные преимущества: оптимизация, безопасность типов, уменьшение дублирования кода. Особенно важно для создания обобщенных библиотек и фреймворков.</a:t>
            </a:r>
            <a:endParaRPr sz="1800"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PT Sans"/>
              <a:buChar char="❖"/>
            </a:pPr>
            <a:r>
              <a:rPr lang="ru" sz="1800"/>
              <a:t>Пример: Вычисление факториала во время компиляции. Можно вынести расчеты на время сборки, чтобы пользователь не ожидал в runtime процесс вычисления</a:t>
            </a:r>
            <a:endParaRPr sz="1800"/>
          </a:p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i="1" sz="1800"/>
          </a:p>
        </p:txBody>
      </p:sp>
      <p:sp>
        <p:nvSpPr>
          <p:cNvPr id="308" name="Google Shape;308;p41"/>
          <p:cNvSpPr txBox="1"/>
          <p:nvPr>
            <p:ph idx="12" type="sldNum"/>
          </p:nvPr>
        </p:nvSpPr>
        <p:spPr>
          <a:xfrm>
            <a:off x="8365965" y="4804358"/>
            <a:ext cx="337500" cy="251700"/>
          </a:xfrm>
          <a:prstGeom prst="rect">
            <a:avLst/>
          </a:prstGeom>
        </p:spPr>
        <p:txBody>
          <a:bodyPr anchorCtr="0" anchor="t" bIns="34275" lIns="0" spcFirstLastPara="1" rIns="0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2"/>
          <p:cNvSpPr txBox="1"/>
          <p:nvPr>
            <p:ph type="title"/>
          </p:nvPr>
        </p:nvSpPr>
        <p:spPr>
          <a:xfrm>
            <a:off x="440531" y="255824"/>
            <a:ext cx="8262900" cy="549000"/>
          </a:xfrm>
          <a:prstGeom prst="rect">
            <a:avLst/>
          </a:prstGeom>
        </p:spPr>
        <p:txBody>
          <a:bodyPr anchorCtr="0" anchor="ctr" bIns="27000" lIns="24300" spcFirstLastPara="1" rIns="0" wrap="square" tIns="270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Boost.Fusion и Boost.MPL</a:t>
            </a:r>
            <a:endParaRPr/>
          </a:p>
        </p:txBody>
      </p:sp>
      <p:sp>
        <p:nvSpPr>
          <p:cNvPr id="314" name="Google Shape;314;p42"/>
          <p:cNvSpPr txBox="1"/>
          <p:nvPr>
            <p:ph idx="1" type="body"/>
          </p:nvPr>
        </p:nvSpPr>
        <p:spPr>
          <a:xfrm>
            <a:off x="440531" y="4788678"/>
            <a:ext cx="3375300" cy="273900"/>
          </a:xfrm>
          <a:prstGeom prst="rect">
            <a:avLst/>
          </a:prstGeom>
        </p:spPr>
        <p:txBody>
          <a:bodyPr anchorCtr="0" anchor="ctr" bIns="27000" lIns="24300" spcFirstLastPara="1" rIns="0" wrap="square" tIns="2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42"/>
          <p:cNvSpPr txBox="1"/>
          <p:nvPr>
            <p:ph idx="2" type="body"/>
          </p:nvPr>
        </p:nvSpPr>
        <p:spPr>
          <a:xfrm>
            <a:off x="440531" y="897564"/>
            <a:ext cx="8262900" cy="3564300"/>
          </a:xfrm>
          <a:prstGeom prst="rect">
            <a:avLst/>
          </a:prstGeom>
        </p:spPr>
        <p:txBody>
          <a:bodyPr anchorCtr="0" anchor="t" bIns="27000" lIns="5400" spcFirstLastPara="1" rIns="0" wrap="square" tIns="27000">
            <a:norm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PT Sans"/>
              <a:buChar char="❖"/>
            </a:pPr>
            <a:r>
              <a:rPr lang="ru" sz="1800"/>
              <a:t>Boost.MPL (MetaProgramming Library)</a:t>
            </a:r>
            <a:endParaRPr sz="1800"/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PT Sans"/>
              <a:buChar char="➢"/>
            </a:pPr>
            <a:r>
              <a:rPr lang="ru" sz="1800"/>
              <a:t>Коллекция шаблонов для метапрограммирования, возникшая до стандарта C++11. Предоставляет инструменты для работы с типами как с коллекциями: списки типов, операции над ними (конкатенация, фильтрация и др.). Позволяет оперировать типами так же, как значениями: сложение типов, сравнение и другие вычисления.</a:t>
            </a:r>
            <a:endParaRPr sz="1800"/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PT Sans"/>
              <a:buChar char="➢"/>
            </a:pPr>
            <a:r>
              <a:rPr lang="ru" sz="1800"/>
              <a:t>Используется для создания сложных шаблонных алгоритмов и генераторов кода на этапе компиляции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i="1" sz="1800"/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i="1" sz="1800"/>
          </a:p>
        </p:txBody>
      </p:sp>
      <p:sp>
        <p:nvSpPr>
          <p:cNvPr id="316" name="Google Shape;316;p42"/>
          <p:cNvSpPr txBox="1"/>
          <p:nvPr>
            <p:ph idx="12" type="sldNum"/>
          </p:nvPr>
        </p:nvSpPr>
        <p:spPr>
          <a:xfrm>
            <a:off x="8365965" y="4804358"/>
            <a:ext cx="337500" cy="251700"/>
          </a:xfrm>
          <a:prstGeom prst="rect">
            <a:avLst/>
          </a:prstGeom>
        </p:spPr>
        <p:txBody>
          <a:bodyPr anchorCtr="0" anchor="t" bIns="34275" lIns="0" spcFirstLastPara="1" rIns="0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43"/>
          <p:cNvSpPr txBox="1"/>
          <p:nvPr>
            <p:ph type="title"/>
          </p:nvPr>
        </p:nvSpPr>
        <p:spPr>
          <a:xfrm>
            <a:off x="440531" y="255824"/>
            <a:ext cx="8262900" cy="549000"/>
          </a:xfrm>
          <a:prstGeom prst="rect">
            <a:avLst/>
          </a:prstGeom>
        </p:spPr>
        <p:txBody>
          <a:bodyPr anchorCtr="0" anchor="ctr" bIns="27000" lIns="24300" spcFirstLastPara="1" rIns="0" wrap="square" tIns="270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Boost.Fusion и Boost.MPL</a:t>
            </a:r>
            <a:endParaRPr/>
          </a:p>
        </p:txBody>
      </p:sp>
      <p:sp>
        <p:nvSpPr>
          <p:cNvPr id="322" name="Google Shape;322;p43"/>
          <p:cNvSpPr txBox="1"/>
          <p:nvPr>
            <p:ph idx="1" type="body"/>
          </p:nvPr>
        </p:nvSpPr>
        <p:spPr>
          <a:xfrm>
            <a:off x="440531" y="4788678"/>
            <a:ext cx="3375300" cy="273900"/>
          </a:xfrm>
          <a:prstGeom prst="rect">
            <a:avLst/>
          </a:prstGeom>
        </p:spPr>
        <p:txBody>
          <a:bodyPr anchorCtr="0" anchor="ctr" bIns="27000" lIns="24300" spcFirstLastPara="1" rIns="0" wrap="square" tIns="2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43"/>
          <p:cNvSpPr txBox="1"/>
          <p:nvPr>
            <p:ph idx="2" type="body"/>
          </p:nvPr>
        </p:nvSpPr>
        <p:spPr>
          <a:xfrm>
            <a:off x="440531" y="897564"/>
            <a:ext cx="8262900" cy="3564300"/>
          </a:xfrm>
          <a:prstGeom prst="rect">
            <a:avLst/>
          </a:prstGeom>
        </p:spPr>
        <p:txBody>
          <a:bodyPr anchorCtr="0" anchor="t" bIns="27000" lIns="5400" spcFirstLastPara="1" rIns="0" wrap="square" tIns="27000">
            <a:normAutofit fontScale="85000" lnSpcReduction="20000"/>
          </a:bodyPr>
          <a:lstStyle/>
          <a:p>
            <a:pPr indent="-325755" lvl="0" marL="4572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ct val="100000"/>
              <a:buFont typeface="PT Sans"/>
              <a:buChar char="❖"/>
            </a:pPr>
            <a:r>
              <a:rPr lang="ru" sz="1800"/>
              <a:t>Boost.Fusion</a:t>
            </a:r>
            <a:endParaRPr sz="1800"/>
          </a:p>
          <a:p>
            <a:pPr indent="-325755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PT Sans"/>
              <a:buChar char="➢"/>
            </a:pPr>
            <a:r>
              <a:rPr lang="ru" sz="1800"/>
              <a:t>Библиотека для работы с гетерогенными коллекциями (разнородными типами), напоминающими кортежи (tuple). Облегчает работу с такими коллекциями в контексте шаблонного программирования: доступ, итерирование, преобразования.</a:t>
            </a:r>
            <a:endParaRPr sz="1800"/>
          </a:p>
          <a:p>
            <a:pPr indent="-325755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PT Sans"/>
              <a:buChar char="➢"/>
            </a:pPr>
            <a:r>
              <a:rPr lang="ru" sz="1800"/>
              <a:t>Интегрируется с Boost.MPL, расширяя возможности метапрограммирования. Позволяет использовать одинаковые алгоритмы для однородных и гетерогенных коллекций.</a:t>
            </a:r>
            <a:endParaRPr sz="1800"/>
          </a:p>
          <a:p>
            <a:pPr indent="-32575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PT Sans"/>
              <a:buChar char="❖"/>
            </a:pPr>
            <a:r>
              <a:rPr lang="ru" sz="1800"/>
              <a:t>Особенности:</a:t>
            </a:r>
            <a:endParaRPr sz="1800"/>
          </a:p>
          <a:p>
            <a:pPr indent="-325755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PT Sans"/>
              <a:buChar char="➢"/>
            </a:pPr>
            <a:r>
              <a:rPr lang="ru" sz="1800"/>
              <a:t>Аналог std::tuple, но с расширенными возможностями</a:t>
            </a:r>
            <a:endParaRPr sz="1800"/>
          </a:p>
          <a:p>
            <a:pPr indent="-325755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PT Sans"/>
              <a:buChar char="➢"/>
            </a:pPr>
            <a:r>
              <a:rPr lang="ru" sz="1800"/>
              <a:t>Позволяет обращаться к элементам по индексу и использовать итераторы для обхода</a:t>
            </a:r>
            <a:endParaRPr sz="1800"/>
          </a:p>
          <a:p>
            <a:pPr indent="-325755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PT Sans"/>
              <a:buChar char="➢"/>
            </a:pPr>
            <a:r>
              <a:rPr lang="ru" sz="1800"/>
              <a:t>Легко преобразуется в другие коллекции</a:t>
            </a:r>
            <a:endParaRPr i="1" sz="1800"/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i="1" sz="1800"/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i="1" sz="1800"/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i="1" sz="1800"/>
          </a:p>
        </p:txBody>
      </p:sp>
      <p:sp>
        <p:nvSpPr>
          <p:cNvPr id="324" name="Google Shape;324;p43"/>
          <p:cNvSpPr txBox="1"/>
          <p:nvPr>
            <p:ph idx="12" type="sldNum"/>
          </p:nvPr>
        </p:nvSpPr>
        <p:spPr>
          <a:xfrm>
            <a:off x="8365965" y="4804358"/>
            <a:ext cx="337500" cy="251700"/>
          </a:xfrm>
          <a:prstGeom prst="rect">
            <a:avLst/>
          </a:prstGeom>
        </p:spPr>
        <p:txBody>
          <a:bodyPr anchorCtr="0" anchor="t" bIns="34275" lIns="0" spcFirstLastPara="1" rIns="0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44"/>
          <p:cNvSpPr txBox="1"/>
          <p:nvPr>
            <p:ph type="title"/>
          </p:nvPr>
        </p:nvSpPr>
        <p:spPr>
          <a:xfrm>
            <a:off x="440531" y="255824"/>
            <a:ext cx="8262900" cy="549000"/>
          </a:xfrm>
          <a:prstGeom prst="rect">
            <a:avLst/>
          </a:prstGeom>
        </p:spPr>
        <p:txBody>
          <a:bodyPr anchorCtr="0" anchor="ctr" bIns="27000" lIns="24300" spcFirstLastPara="1" rIns="0" wrap="square" tIns="270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Boost.Fusion и Boost.MPL</a:t>
            </a:r>
            <a:endParaRPr/>
          </a:p>
        </p:txBody>
      </p:sp>
      <p:sp>
        <p:nvSpPr>
          <p:cNvPr id="330" name="Google Shape;330;p44"/>
          <p:cNvSpPr txBox="1"/>
          <p:nvPr>
            <p:ph idx="1" type="body"/>
          </p:nvPr>
        </p:nvSpPr>
        <p:spPr>
          <a:xfrm>
            <a:off x="440531" y="4788678"/>
            <a:ext cx="3375300" cy="273900"/>
          </a:xfrm>
          <a:prstGeom prst="rect">
            <a:avLst/>
          </a:prstGeom>
        </p:spPr>
        <p:txBody>
          <a:bodyPr anchorCtr="0" anchor="ctr" bIns="27000" lIns="24300" spcFirstLastPara="1" rIns="0" wrap="square" tIns="2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44"/>
          <p:cNvSpPr txBox="1"/>
          <p:nvPr>
            <p:ph idx="2" type="body"/>
          </p:nvPr>
        </p:nvSpPr>
        <p:spPr>
          <a:xfrm>
            <a:off x="440531" y="897564"/>
            <a:ext cx="8262900" cy="3564300"/>
          </a:xfrm>
          <a:prstGeom prst="rect">
            <a:avLst/>
          </a:prstGeom>
        </p:spPr>
        <p:txBody>
          <a:bodyPr anchorCtr="0" anchor="t" bIns="27000" lIns="5400" spcFirstLastPara="1" rIns="0" wrap="square" tIns="27000">
            <a:normAutofit lnSpcReduction="20000"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PT Sans"/>
              <a:buChar char="❖"/>
            </a:pPr>
            <a:r>
              <a:rPr lang="ru" sz="1800"/>
              <a:t>Метапрограммирование позволяет выполнять вычисления и операции над типами во время компиляции, что повышает производительность и безопасность кода.</a:t>
            </a:r>
            <a:endParaRPr sz="1800"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PT Sans"/>
              <a:buChar char="❖"/>
            </a:pPr>
            <a:r>
              <a:rPr lang="ru" sz="1800"/>
              <a:t>Boost.MPL предлагает богатый набор инструментов для манипуляции типами в стиле функционального программирования.</a:t>
            </a:r>
            <a:endParaRPr sz="1800"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PT Sans"/>
              <a:buChar char="❖"/>
            </a:pPr>
            <a:r>
              <a:rPr lang="ru" sz="1800"/>
              <a:t>Boost.Fusion упрощает работу с гетерогенными коллекциями, расширяя возможности обычных кортежей.</a:t>
            </a:r>
            <a:endParaRPr sz="1800"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PT Sans"/>
              <a:buChar char="❖"/>
            </a:pPr>
            <a:r>
              <a:rPr lang="ru" sz="1800"/>
              <a:t>Вместе они помогают писать гибкие, эффективные и переиспользуемые шаблонные библиотеки, особенно актуальные в языках до C++11 и в сложных системах.</a:t>
            </a:r>
            <a:endParaRPr sz="1800"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PT Sans"/>
              <a:buChar char="❖"/>
            </a:pPr>
            <a:r>
              <a:rPr lang="ru" sz="1800"/>
              <a:t>ВАЖНО: Но не стоит увлекаться этим и стараться все шаблонизировать: код написанный на шаблонах сложнее читать и отлаживать.</a:t>
            </a:r>
            <a:endParaRPr i="1" sz="1800"/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i="1" sz="1800"/>
          </a:p>
        </p:txBody>
      </p:sp>
      <p:sp>
        <p:nvSpPr>
          <p:cNvPr id="332" name="Google Shape;332;p44"/>
          <p:cNvSpPr txBox="1"/>
          <p:nvPr>
            <p:ph idx="12" type="sldNum"/>
          </p:nvPr>
        </p:nvSpPr>
        <p:spPr>
          <a:xfrm>
            <a:off x="8365965" y="4804358"/>
            <a:ext cx="337500" cy="251700"/>
          </a:xfrm>
          <a:prstGeom prst="rect">
            <a:avLst/>
          </a:prstGeom>
        </p:spPr>
        <p:txBody>
          <a:bodyPr anchorCtr="0" anchor="t" bIns="34275" lIns="0" spcFirstLastPara="1" rIns="0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45"/>
          <p:cNvSpPr txBox="1"/>
          <p:nvPr>
            <p:ph type="ctrTitle"/>
          </p:nvPr>
        </p:nvSpPr>
        <p:spPr>
          <a:xfrm>
            <a:off x="629841" y="3139343"/>
            <a:ext cx="7885500" cy="678000"/>
          </a:xfrm>
          <a:prstGeom prst="rect">
            <a:avLst/>
          </a:prstGeom>
        </p:spPr>
        <p:txBody>
          <a:bodyPr anchorCtr="0" anchor="ctr" bIns="27000" lIns="5400" spcFirstLastPara="1" rIns="0" wrap="square" tIns="270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Мастер-класс</a:t>
            </a:r>
            <a:endParaRPr/>
          </a:p>
        </p:txBody>
      </p:sp>
      <p:sp>
        <p:nvSpPr>
          <p:cNvPr id="338" name="Google Shape;338;p4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34275" lIns="0" spcFirstLastPara="1" rIns="0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339" name="Google Shape;339;p45"/>
          <p:cNvSpPr txBox="1"/>
          <p:nvPr>
            <p:ph idx="1" type="body"/>
          </p:nvPr>
        </p:nvSpPr>
        <p:spPr>
          <a:xfrm>
            <a:off x="629841" y="4010118"/>
            <a:ext cx="7885500" cy="740400"/>
          </a:xfrm>
          <a:prstGeom prst="rect">
            <a:avLst/>
          </a:prstGeom>
        </p:spPr>
        <p:txBody>
          <a:bodyPr anchorCtr="0" anchor="t" bIns="27000" lIns="5400" spcFirstLastPara="1" rIns="0" wrap="square" tIns="270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4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Boost.</a:t>
            </a:r>
            <a:r>
              <a:rPr b="1" lang="ru" sz="24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MPL</a:t>
            </a:r>
            <a:endParaRPr b="1" sz="2400">
              <a:solidFill>
                <a:schemeClr val="dk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340" name="Google Shape;340;p45"/>
          <p:cNvSpPr txBox="1"/>
          <p:nvPr/>
        </p:nvSpPr>
        <p:spPr>
          <a:xfrm>
            <a:off x="4106175" y="2677425"/>
            <a:ext cx="5232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38761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 depends</a:t>
            </a:r>
            <a:endParaRPr>
              <a:solidFill>
                <a:srgbClr val="38761D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1C458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#include</a:t>
            </a:r>
            <a:r>
              <a:rPr lang="ru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>
                <a:solidFill>
                  <a:srgbClr val="38761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&lt;boost/mpl/vector.hpp&gt;</a:t>
            </a:r>
            <a:endParaRPr>
              <a:solidFill>
                <a:srgbClr val="38761D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1C458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#include</a:t>
            </a:r>
            <a:r>
              <a:rPr lang="ru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>
                <a:solidFill>
                  <a:srgbClr val="38761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&lt;boost/mpl/size.hpp&gt;</a:t>
            </a:r>
            <a:endParaRPr>
              <a:solidFill>
                <a:srgbClr val="38761D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1C458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#include</a:t>
            </a:r>
            <a:r>
              <a:rPr lang="ru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>
                <a:solidFill>
                  <a:srgbClr val="38761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&lt;boost/mpl/find.hpp&gt;</a:t>
            </a:r>
            <a:endParaRPr>
              <a:solidFill>
                <a:srgbClr val="38761D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1C458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#include</a:t>
            </a:r>
            <a:r>
              <a:rPr lang="ru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>
                <a:solidFill>
                  <a:srgbClr val="38761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&lt;boost/mpl/has_key.hpp&gt;</a:t>
            </a:r>
            <a:endParaRPr>
              <a:solidFill>
                <a:srgbClr val="38761D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1C458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#include</a:t>
            </a:r>
            <a:r>
              <a:rPr lang="ru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>
                <a:solidFill>
                  <a:srgbClr val="38761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&lt;iostream&gt;</a:t>
            </a:r>
            <a:endParaRPr>
              <a:solidFill>
                <a:srgbClr val="38761D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BF9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namespace</a:t>
            </a:r>
            <a:r>
              <a:rPr lang="ru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>
                <a:solidFill>
                  <a:srgbClr val="1C458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mpl</a:t>
            </a:r>
            <a:r>
              <a:rPr lang="ru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ru">
                <a:solidFill>
                  <a:srgbClr val="741B4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boost::mpl</a:t>
            </a:r>
            <a:r>
              <a:rPr lang="ru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BF9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typedef</a:t>
            </a:r>
            <a:r>
              <a:rPr lang="ru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>
                <a:solidFill>
                  <a:srgbClr val="741B4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mpl::vector</a:t>
            </a:r>
            <a:r>
              <a:rPr lang="ru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ru">
                <a:solidFill>
                  <a:srgbClr val="BF9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ru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>
                <a:solidFill>
                  <a:srgbClr val="BF9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double</a:t>
            </a:r>
            <a:r>
              <a:rPr lang="ru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>
                <a:solidFill>
                  <a:srgbClr val="BF9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char</a:t>
            </a:r>
            <a:r>
              <a:rPr lang="ru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>
                <a:solidFill>
                  <a:srgbClr val="BF9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bool</a:t>
            </a:r>
            <a:r>
              <a:rPr lang="ru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&gt; </a:t>
            </a:r>
            <a:r>
              <a:rPr lang="ru">
                <a:solidFill>
                  <a:srgbClr val="1C458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my_types</a:t>
            </a:r>
            <a:r>
              <a:rPr lang="ru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6"/>
          <p:cNvSpPr txBox="1"/>
          <p:nvPr>
            <p:ph type="title"/>
          </p:nvPr>
        </p:nvSpPr>
        <p:spPr>
          <a:xfrm>
            <a:off x="440531" y="255824"/>
            <a:ext cx="8262900" cy="549000"/>
          </a:xfrm>
          <a:prstGeom prst="rect">
            <a:avLst/>
          </a:prstGeom>
        </p:spPr>
        <p:txBody>
          <a:bodyPr anchorCtr="0" anchor="ctr" bIns="27000" lIns="24300" spcFirstLastPara="1" rIns="0" wrap="square" tIns="270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Boost.MPL</a:t>
            </a:r>
            <a:endParaRPr/>
          </a:p>
        </p:txBody>
      </p:sp>
      <p:sp>
        <p:nvSpPr>
          <p:cNvPr id="346" name="Google Shape;346;p46"/>
          <p:cNvSpPr txBox="1"/>
          <p:nvPr>
            <p:ph idx="1" type="body"/>
          </p:nvPr>
        </p:nvSpPr>
        <p:spPr>
          <a:xfrm>
            <a:off x="440531" y="4788678"/>
            <a:ext cx="3375300" cy="273900"/>
          </a:xfrm>
          <a:prstGeom prst="rect">
            <a:avLst/>
          </a:prstGeom>
        </p:spPr>
        <p:txBody>
          <a:bodyPr anchorCtr="0" anchor="ctr" bIns="27000" lIns="24300" spcFirstLastPara="1" rIns="0" wrap="square" tIns="2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46"/>
          <p:cNvSpPr txBox="1"/>
          <p:nvPr>
            <p:ph idx="2" type="body"/>
          </p:nvPr>
        </p:nvSpPr>
        <p:spPr>
          <a:xfrm>
            <a:off x="440531" y="897564"/>
            <a:ext cx="8262900" cy="3564300"/>
          </a:xfrm>
          <a:prstGeom prst="rect">
            <a:avLst/>
          </a:prstGeom>
        </p:spPr>
        <p:txBody>
          <a:bodyPr anchorCtr="0" anchor="t" bIns="27000" lIns="5400" spcFirstLastPara="1" rIns="0" wrap="square" tIns="27000">
            <a:normAutofit fontScale="92500" lnSpcReduction="20000"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BF9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100">
                <a:solidFill>
                  <a:srgbClr val="1C458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 {</a:t>
            </a:r>
            <a:endParaRPr sz="1100">
              <a:solidFill>
                <a:srgbClr val="38761D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1100">
                <a:solidFill>
                  <a:srgbClr val="741B4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std::cout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&lt;&lt; </a:t>
            </a:r>
            <a:r>
              <a:rPr lang="ru" sz="1100">
                <a:solidFill>
                  <a:srgbClr val="38761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"Number of types: "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&lt;&lt; </a:t>
            </a:r>
            <a:r>
              <a:rPr lang="ru" sz="1100">
                <a:solidFill>
                  <a:srgbClr val="741B4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mpl::size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ru" sz="1100">
                <a:solidFill>
                  <a:srgbClr val="741B4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my_types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ru" sz="1100">
                <a:solidFill>
                  <a:srgbClr val="741B4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::value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&lt;&lt; </a:t>
            </a:r>
            <a:r>
              <a:rPr lang="ru" sz="1100">
                <a:solidFill>
                  <a:srgbClr val="741B4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std::endl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10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1100">
                <a:solidFill>
                  <a:srgbClr val="38761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 Попытка найти тип float внутри my_types</a:t>
            </a:r>
            <a:endParaRPr sz="1100">
              <a:solidFill>
                <a:srgbClr val="38761D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1100">
                <a:solidFill>
                  <a:srgbClr val="BF9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typedef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100">
                <a:solidFill>
                  <a:srgbClr val="741B4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mpl::find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ru" sz="1100">
                <a:solidFill>
                  <a:srgbClr val="741B4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my_types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1100">
                <a:solidFill>
                  <a:srgbClr val="BF9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float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ru" sz="1100">
                <a:solidFill>
                  <a:srgbClr val="741B4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::type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100">
                <a:solidFill>
                  <a:srgbClr val="1C458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iter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10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1100">
                <a:solidFill>
                  <a:srgbClr val="BF9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typedef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100">
                <a:solidFill>
                  <a:srgbClr val="741B4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mpl::end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ru" sz="1100">
                <a:solidFill>
                  <a:srgbClr val="741B4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my_types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ru" sz="1100">
                <a:solidFill>
                  <a:srgbClr val="741B4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::type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100">
                <a:solidFill>
                  <a:srgbClr val="1C458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end_iter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10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1100">
                <a:solidFill>
                  <a:srgbClr val="38761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 Проверка, найден ли тип float</a:t>
            </a:r>
            <a:endParaRPr sz="1100">
              <a:solidFill>
                <a:srgbClr val="38761D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1100">
                <a:solidFill>
                  <a:srgbClr val="BF9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bool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has_float = !</a:t>
            </a:r>
            <a:r>
              <a:rPr lang="ru" sz="1100">
                <a:solidFill>
                  <a:srgbClr val="741B4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std::is_same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ru" sz="1100">
                <a:solidFill>
                  <a:srgbClr val="1C458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iter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1100">
                <a:solidFill>
                  <a:srgbClr val="1C458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end_iter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ru" sz="1100">
                <a:solidFill>
                  <a:srgbClr val="741B4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::value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10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std::cout &lt;&lt; </a:t>
            </a:r>
            <a:r>
              <a:rPr lang="ru" sz="1100">
                <a:solidFill>
                  <a:srgbClr val="38761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"Contains float? "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&lt;&lt; (</a:t>
            </a:r>
            <a:r>
              <a:rPr lang="ru" sz="1100">
                <a:solidFill>
                  <a:srgbClr val="1C458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has_float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? </a:t>
            </a:r>
            <a:r>
              <a:rPr lang="ru" sz="1100">
                <a:solidFill>
                  <a:srgbClr val="38761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"Yes"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: </a:t>
            </a:r>
            <a:r>
              <a:rPr lang="ru" sz="1100">
                <a:solidFill>
                  <a:srgbClr val="38761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"No"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 &lt;&lt; </a:t>
            </a:r>
            <a:r>
              <a:rPr lang="ru" sz="1100">
                <a:solidFill>
                  <a:srgbClr val="741B4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std::endl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10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1100">
                <a:solidFill>
                  <a:srgbClr val="BF9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typedef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100">
                <a:solidFill>
                  <a:srgbClr val="741B4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mpl::find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ru" sz="1100">
                <a:solidFill>
                  <a:srgbClr val="741B4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my_types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1100">
                <a:solidFill>
                  <a:srgbClr val="BF9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ru" sz="1100">
                <a:solidFill>
                  <a:srgbClr val="741B4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::type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100">
                <a:solidFill>
                  <a:srgbClr val="1C458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iter_int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 </a:t>
            </a:r>
            <a:r>
              <a:rPr lang="ru" sz="1100">
                <a:solidFill>
                  <a:srgbClr val="38761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 Аналогично для int</a:t>
            </a:r>
            <a:endParaRPr sz="1100">
              <a:solidFill>
                <a:srgbClr val="38761D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1100">
                <a:solidFill>
                  <a:srgbClr val="BF9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bool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100">
                <a:solidFill>
                  <a:srgbClr val="1C458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has_int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!</a:t>
            </a:r>
            <a:r>
              <a:rPr lang="ru" sz="1100">
                <a:solidFill>
                  <a:srgbClr val="741B4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std::is_sam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e&lt;</a:t>
            </a:r>
            <a:r>
              <a:rPr lang="ru" sz="1100">
                <a:solidFill>
                  <a:srgbClr val="1C458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iter_int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1100">
                <a:solidFill>
                  <a:srgbClr val="1C458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end_iter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ru" sz="1100">
                <a:solidFill>
                  <a:srgbClr val="741B4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::value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10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1100">
                <a:solidFill>
                  <a:srgbClr val="741B4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std::cout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&lt;&lt; </a:t>
            </a:r>
            <a:r>
              <a:rPr lang="ru" sz="1100">
                <a:solidFill>
                  <a:srgbClr val="38761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"Contains int? "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&lt;&lt; (</a:t>
            </a:r>
            <a:r>
              <a:rPr lang="ru" sz="1100">
                <a:solidFill>
                  <a:srgbClr val="1C458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has_int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? </a:t>
            </a:r>
            <a:r>
              <a:rPr lang="ru" sz="1100">
                <a:solidFill>
                  <a:srgbClr val="38761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"Yes"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: </a:t>
            </a:r>
            <a:r>
              <a:rPr lang="ru" sz="1100">
                <a:solidFill>
                  <a:srgbClr val="38761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"No"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 &lt;&lt; </a:t>
            </a:r>
            <a:r>
              <a:rPr lang="ru" sz="1100">
                <a:solidFill>
                  <a:srgbClr val="741B4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std::endl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10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1100">
                <a:solidFill>
                  <a:srgbClr val="BF9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0;</a:t>
            </a:r>
            <a:endParaRPr sz="110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10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ru" sz="1800"/>
              <a:t>Сборка через терминал: </a:t>
            </a:r>
            <a:r>
              <a:rPr lang="ru" sz="1800">
                <a:solidFill>
                  <a:srgbClr val="741B47"/>
                </a:solidFill>
              </a:rPr>
              <a:t>g++</a:t>
            </a:r>
            <a:r>
              <a:rPr lang="ru" sz="1800"/>
              <a:t> main.cpp </a:t>
            </a:r>
            <a:br>
              <a:rPr lang="ru" sz="1800"/>
            </a:br>
            <a:r>
              <a:rPr lang="ru" sz="1800"/>
              <a:t>Запуск через VSCode не требует дополнительных действий</a:t>
            </a:r>
            <a:endParaRPr sz="1800"/>
          </a:p>
        </p:txBody>
      </p:sp>
      <p:sp>
        <p:nvSpPr>
          <p:cNvPr id="348" name="Google Shape;348;p46"/>
          <p:cNvSpPr txBox="1"/>
          <p:nvPr>
            <p:ph idx="12" type="sldNum"/>
          </p:nvPr>
        </p:nvSpPr>
        <p:spPr>
          <a:xfrm>
            <a:off x="8365965" y="4804358"/>
            <a:ext cx="337500" cy="251700"/>
          </a:xfrm>
          <a:prstGeom prst="rect">
            <a:avLst/>
          </a:prstGeom>
        </p:spPr>
        <p:txBody>
          <a:bodyPr anchorCtr="0" anchor="t" bIns="34275" lIns="0" spcFirstLastPara="1" rIns="0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47"/>
          <p:cNvSpPr txBox="1"/>
          <p:nvPr>
            <p:ph type="ctrTitle"/>
          </p:nvPr>
        </p:nvSpPr>
        <p:spPr>
          <a:xfrm>
            <a:off x="629841" y="3139343"/>
            <a:ext cx="7885500" cy="678000"/>
          </a:xfrm>
          <a:prstGeom prst="rect">
            <a:avLst/>
          </a:prstGeom>
        </p:spPr>
        <p:txBody>
          <a:bodyPr anchorCtr="0" anchor="ctr" bIns="27000" lIns="5400" spcFirstLastPara="1" rIns="0" wrap="square" tIns="270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Мастер-класс</a:t>
            </a:r>
            <a:endParaRPr/>
          </a:p>
        </p:txBody>
      </p:sp>
      <p:sp>
        <p:nvSpPr>
          <p:cNvPr id="354" name="Google Shape;354;p4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34275" lIns="0" spcFirstLastPara="1" rIns="0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355" name="Google Shape;355;p47"/>
          <p:cNvSpPr txBox="1"/>
          <p:nvPr>
            <p:ph idx="1" type="body"/>
          </p:nvPr>
        </p:nvSpPr>
        <p:spPr>
          <a:xfrm>
            <a:off x="629841" y="4010118"/>
            <a:ext cx="7885500" cy="740400"/>
          </a:xfrm>
          <a:prstGeom prst="rect">
            <a:avLst/>
          </a:prstGeom>
        </p:spPr>
        <p:txBody>
          <a:bodyPr anchorCtr="0" anchor="t" bIns="27000" lIns="5400" spcFirstLastPara="1" rIns="0" wrap="square" tIns="270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4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Boost.Fusion</a:t>
            </a:r>
            <a:endParaRPr b="1" sz="2400">
              <a:solidFill>
                <a:schemeClr val="dk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356" name="Google Shape;356;p47"/>
          <p:cNvSpPr txBox="1"/>
          <p:nvPr/>
        </p:nvSpPr>
        <p:spPr>
          <a:xfrm>
            <a:off x="3701325" y="2677425"/>
            <a:ext cx="5637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38761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 depends</a:t>
            </a:r>
            <a:endParaRPr>
              <a:solidFill>
                <a:srgbClr val="38761D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1C458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#include</a:t>
            </a:r>
            <a:r>
              <a:rPr lang="ru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>
                <a:solidFill>
                  <a:srgbClr val="38761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&lt;boost/fusion/include/adapt_struct.hpp&gt;</a:t>
            </a:r>
            <a:endParaRPr>
              <a:solidFill>
                <a:srgbClr val="38761D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1C458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#include</a:t>
            </a:r>
            <a:r>
              <a:rPr lang="ru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>
                <a:solidFill>
                  <a:srgbClr val="38761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&lt;boost/fusion/algorithm.hpp&gt;</a:t>
            </a:r>
            <a:endParaRPr>
              <a:solidFill>
                <a:srgbClr val="38761D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1C458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#include </a:t>
            </a:r>
            <a:r>
              <a:rPr lang="ru">
                <a:solidFill>
                  <a:srgbClr val="38761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&lt;iostream&gt;</a:t>
            </a:r>
            <a:endParaRPr>
              <a:solidFill>
                <a:srgbClr val="38761D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48"/>
          <p:cNvSpPr txBox="1"/>
          <p:nvPr>
            <p:ph type="title"/>
          </p:nvPr>
        </p:nvSpPr>
        <p:spPr>
          <a:xfrm>
            <a:off x="440531" y="255824"/>
            <a:ext cx="8262900" cy="549000"/>
          </a:xfrm>
          <a:prstGeom prst="rect">
            <a:avLst/>
          </a:prstGeom>
        </p:spPr>
        <p:txBody>
          <a:bodyPr anchorCtr="0" anchor="ctr" bIns="27000" lIns="24300" spcFirstLastPara="1" rIns="0" wrap="square" tIns="270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Boost.Fusion</a:t>
            </a:r>
            <a:endParaRPr/>
          </a:p>
        </p:txBody>
      </p:sp>
      <p:sp>
        <p:nvSpPr>
          <p:cNvPr id="362" name="Google Shape;362;p48"/>
          <p:cNvSpPr txBox="1"/>
          <p:nvPr>
            <p:ph idx="1" type="body"/>
          </p:nvPr>
        </p:nvSpPr>
        <p:spPr>
          <a:xfrm>
            <a:off x="440531" y="4788678"/>
            <a:ext cx="3375300" cy="273900"/>
          </a:xfrm>
          <a:prstGeom prst="rect">
            <a:avLst/>
          </a:prstGeom>
        </p:spPr>
        <p:txBody>
          <a:bodyPr anchorCtr="0" anchor="ctr" bIns="27000" lIns="24300" spcFirstLastPara="1" rIns="0" wrap="square" tIns="2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48"/>
          <p:cNvSpPr txBox="1"/>
          <p:nvPr>
            <p:ph idx="2" type="body"/>
          </p:nvPr>
        </p:nvSpPr>
        <p:spPr>
          <a:xfrm>
            <a:off x="440531" y="897564"/>
            <a:ext cx="8262900" cy="3564300"/>
          </a:xfrm>
          <a:prstGeom prst="rect">
            <a:avLst/>
          </a:prstGeom>
        </p:spPr>
        <p:txBody>
          <a:bodyPr anchorCtr="0" anchor="t" bIns="27000" lIns="5400" spcFirstLastPara="1" rIns="0" wrap="square" tIns="27000">
            <a:norm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BF9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100">
                <a:solidFill>
                  <a:srgbClr val="741B4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Point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10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1100">
                <a:solidFill>
                  <a:srgbClr val="BF9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double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100">
                <a:solidFill>
                  <a:srgbClr val="1C458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10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1100">
                <a:solidFill>
                  <a:srgbClr val="BF9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double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100">
                <a:solidFill>
                  <a:srgbClr val="1C458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10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sz="110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8761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 Макрос BOOST_FUSION_ADAPT_STRUCT позволяет использовать метапрограммирование FUSION</a:t>
            </a:r>
            <a:endParaRPr sz="1100">
              <a:solidFill>
                <a:srgbClr val="38761D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1C458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BOOST_FUSION_ADAPT_STRUCT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100">
                <a:solidFill>
                  <a:srgbClr val="741B4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Point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(</a:t>
            </a:r>
            <a:r>
              <a:rPr lang="ru" sz="1100">
                <a:solidFill>
                  <a:srgbClr val="BF9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double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1100">
                <a:solidFill>
                  <a:srgbClr val="1C458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)(</a:t>
            </a:r>
            <a:r>
              <a:rPr lang="ru" sz="1100">
                <a:solidFill>
                  <a:srgbClr val="BF9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double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1100">
                <a:solidFill>
                  <a:srgbClr val="1C458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))</a:t>
            </a:r>
            <a:endParaRPr sz="110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BF9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100">
                <a:solidFill>
                  <a:srgbClr val="1C458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 {</a:t>
            </a:r>
            <a:endParaRPr sz="110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1100">
                <a:solidFill>
                  <a:srgbClr val="741B4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Point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100">
                <a:solidFill>
                  <a:srgbClr val="1C458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ru" sz="1100">
                <a:solidFill>
                  <a:srgbClr val="1C458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3.0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1100">
                <a:solidFill>
                  <a:srgbClr val="1C458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4.0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sz="110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1100">
                <a:solidFill>
                  <a:srgbClr val="38761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 Используем boost::fusion::for_each для итерации по полям структур</a:t>
            </a:r>
            <a:endParaRPr sz="1100">
              <a:solidFill>
                <a:srgbClr val="38761D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1100">
                <a:solidFill>
                  <a:srgbClr val="741B4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boost::fusion::for_each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100">
                <a:solidFill>
                  <a:srgbClr val="1C458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[](</a:t>
            </a:r>
            <a:r>
              <a:rPr lang="ru" sz="1100">
                <a:solidFill>
                  <a:srgbClr val="BF9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auto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&amp; </a:t>
            </a:r>
            <a:r>
              <a:rPr lang="ru" sz="1100">
                <a:solidFill>
                  <a:srgbClr val="1C458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field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10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ru" sz="1100">
                <a:solidFill>
                  <a:srgbClr val="741B4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std::cout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&lt;&lt; </a:t>
            </a:r>
            <a:r>
              <a:rPr lang="ru" sz="1100">
                <a:solidFill>
                  <a:srgbClr val="1C458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field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&lt;&lt; </a:t>
            </a:r>
            <a:r>
              <a:rPr lang="ru" sz="1100">
                <a:solidFill>
                  <a:srgbClr val="38761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"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10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});</a:t>
            </a:r>
            <a:endParaRPr sz="110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1100">
                <a:solidFill>
                  <a:srgbClr val="741B4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std::cout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&lt;&lt; </a:t>
            </a:r>
            <a:r>
              <a:rPr lang="ru" sz="1100">
                <a:solidFill>
                  <a:srgbClr val="741B4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std::endl</a:t>
            </a: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10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10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</a:rPr>
              <a:t>Сборка через терминал: </a:t>
            </a:r>
            <a:r>
              <a:rPr lang="ru" sz="1800">
                <a:solidFill>
                  <a:srgbClr val="741B47"/>
                </a:solidFill>
              </a:rPr>
              <a:t>g++</a:t>
            </a:r>
            <a:r>
              <a:rPr lang="ru" sz="1800">
                <a:solidFill>
                  <a:schemeClr val="dk1"/>
                </a:solidFill>
              </a:rPr>
              <a:t> main.cpp</a:t>
            </a:r>
            <a:endParaRPr sz="1800"/>
          </a:p>
        </p:txBody>
      </p:sp>
      <p:sp>
        <p:nvSpPr>
          <p:cNvPr id="364" name="Google Shape;364;p48"/>
          <p:cNvSpPr txBox="1"/>
          <p:nvPr>
            <p:ph idx="12" type="sldNum"/>
          </p:nvPr>
        </p:nvSpPr>
        <p:spPr>
          <a:xfrm>
            <a:off x="8365965" y="4804358"/>
            <a:ext cx="337500" cy="251700"/>
          </a:xfrm>
          <a:prstGeom prst="rect">
            <a:avLst/>
          </a:prstGeom>
        </p:spPr>
        <p:txBody>
          <a:bodyPr anchorCtr="0" anchor="t" bIns="34275" lIns="0" spcFirstLastPara="1" rIns="0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49"/>
          <p:cNvSpPr txBox="1"/>
          <p:nvPr>
            <p:ph type="title"/>
          </p:nvPr>
        </p:nvSpPr>
        <p:spPr>
          <a:xfrm>
            <a:off x="440531" y="255824"/>
            <a:ext cx="8262900" cy="549000"/>
          </a:xfrm>
          <a:prstGeom prst="rect">
            <a:avLst/>
          </a:prstGeom>
        </p:spPr>
        <p:txBody>
          <a:bodyPr anchorCtr="0" anchor="ctr" bIns="27000" lIns="24300" spcFirstLastPara="1" rIns="0" wrap="square" tIns="270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Boost.Graph</a:t>
            </a:r>
            <a:endParaRPr/>
          </a:p>
        </p:txBody>
      </p:sp>
      <p:sp>
        <p:nvSpPr>
          <p:cNvPr id="370" name="Google Shape;370;p49"/>
          <p:cNvSpPr txBox="1"/>
          <p:nvPr>
            <p:ph idx="1" type="body"/>
          </p:nvPr>
        </p:nvSpPr>
        <p:spPr>
          <a:xfrm>
            <a:off x="440531" y="4788678"/>
            <a:ext cx="3375300" cy="273900"/>
          </a:xfrm>
          <a:prstGeom prst="rect">
            <a:avLst/>
          </a:prstGeom>
        </p:spPr>
        <p:txBody>
          <a:bodyPr anchorCtr="0" anchor="ctr" bIns="27000" lIns="24300" spcFirstLastPara="1" rIns="0" wrap="square" tIns="2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49"/>
          <p:cNvSpPr txBox="1"/>
          <p:nvPr>
            <p:ph idx="2" type="body"/>
          </p:nvPr>
        </p:nvSpPr>
        <p:spPr>
          <a:xfrm>
            <a:off x="440531" y="897564"/>
            <a:ext cx="8262900" cy="3564300"/>
          </a:xfrm>
          <a:prstGeom prst="rect">
            <a:avLst/>
          </a:prstGeom>
        </p:spPr>
        <p:txBody>
          <a:bodyPr anchorCtr="0" anchor="t" bIns="27000" lIns="5400" spcFirstLastPara="1" rIns="0" wrap="square" tIns="27000">
            <a:normAutofit fontScale="85000" lnSpcReduction="20000"/>
          </a:bodyPr>
          <a:lstStyle/>
          <a:p>
            <a:pPr indent="-325755" lvl="0" marL="4572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ct val="100000"/>
              <a:buFont typeface="PT Sans"/>
              <a:buChar char="❖"/>
            </a:pPr>
            <a:r>
              <a:rPr lang="ru" sz="1800"/>
              <a:t>В библиотеке Boost.Graph реализованы структуры данных для хранения графов: списки смежности, матрицы смежности и другие</a:t>
            </a:r>
            <a:endParaRPr sz="1800"/>
          </a:p>
          <a:p>
            <a:pPr indent="-32575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PT Sans"/>
              <a:buChar char="❖"/>
            </a:pPr>
            <a:r>
              <a:rPr lang="ru" sz="1800"/>
              <a:t>Поддержка различных алгоритмов поиска и анализа графов:</a:t>
            </a:r>
            <a:endParaRPr sz="1800"/>
          </a:p>
          <a:p>
            <a:pPr indent="-325755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PT Sans"/>
              <a:buChar char="➢"/>
            </a:pPr>
            <a:r>
              <a:rPr lang="ru" sz="1800"/>
              <a:t>Поиск в глубину (DFS)</a:t>
            </a:r>
            <a:endParaRPr sz="1800"/>
          </a:p>
          <a:p>
            <a:pPr indent="-325755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PT Sans"/>
              <a:buChar char="➢"/>
            </a:pPr>
            <a:r>
              <a:rPr lang="ru" sz="1800"/>
              <a:t>Поиск в ширину (BFS)</a:t>
            </a:r>
            <a:endParaRPr sz="1800"/>
          </a:p>
          <a:p>
            <a:pPr indent="-325755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PT Sans"/>
              <a:buChar char="➢"/>
            </a:pPr>
            <a:r>
              <a:rPr lang="ru" sz="1800"/>
              <a:t>Кратчайшие пути (Дейкстра, Флойда-Уоршалла)</a:t>
            </a:r>
            <a:endParaRPr sz="1800"/>
          </a:p>
          <a:p>
            <a:pPr indent="-325755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PT Sans"/>
              <a:buChar char="➢"/>
            </a:pPr>
            <a:r>
              <a:rPr lang="ru" sz="1800"/>
              <a:t>Обходы и оптимизации</a:t>
            </a:r>
            <a:endParaRPr sz="1800"/>
          </a:p>
          <a:p>
            <a:pPr indent="-32575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PT Sans"/>
              <a:buChar char="❖"/>
            </a:pPr>
            <a:r>
              <a:rPr lang="ru" sz="1800"/>
              <a:t>Замечание: Большие наборы данных могут </a:t>
            </a:r>
            <a:endParaRPr sz="1800"/>
          </a:p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ru" sz="1800"/>
              <a:t>перегружать ОЗУ и для хранения таких объемов</a:t>
            </a:r>
            <a:endParaRPr sz="1800"/>
          </a:p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ru" sz="1800"/>
              <a:t> предпочтительнее использовать СУБД.</a:t>
            </a:r>
            <a:endParaRPr sz="1800"/>
          </a:p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ru" sz="1800"/>
              <a:t>neo4j - для графового представления</a:t>
            </a:r>
            <a:endParaRPr sz="1800"/>
          </a:p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ru" sz="1800"/>
              <a:t>mongodb - для хранения коллекциями (</a:t>
            </a:r>
            <a:r>
              <a:rPr lang="ru" sz="1800" u="sng">
                <a:solidFill>
                  <a:schemeClr val="hlink"/>
                </a:solidFill>
                <a:hlinkClick r:id="rId3"/>
              </a:rPr>
              <a:t>http://mongoengine.org/</a:t>
            </a:r>
            <a:r>
              <a:rPr lang="ru" sz="1800"/>
              <a:t>)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72" name="Google Shape;372;p49"/>
          <p:cNvSpPr txBox="1"/>
          <p:nvPr>
            <p:ph idx="12" type="sldNum"/>
          </p:nvPr>
        </p:nvSpPr>
        <p:spPr>
          <a:xfrm>
            <a:off x="8365965" y="4804358"/>
            <a:ext cx="337500" cy="251700"/>
          </a:xfrm>
          <a:prstGeom prst="rect">
            <a:avLst/>
          </a:prstGeom>
        </p:spPr>
        <p:txBody>
          <a:bodyPr anchorCtr="0" anchor="t" bIns="34275" lIns="0" spcFirstLastPara="1" rIns="0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373" name="Google Shape;373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71357" y="2766722"/>
            <a:ext cx="3472643" cy="202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50"/>
          <p:cNvSpPr txBox="1"/>
          <p:nvPr>
            <p:ph type="title"/>
          </p:nvPr>
        </p:nvSpPr>
        <p:spPr>
          <a:xfrm>
            <a:off x="440531" y="255824"/>
            <a:ext cx="8262900" cy="549000"/>
          </a:xfrm>
          <a:prstGeom prst="rect">
            <a:avLst/>
          </a:prstGeom>
        </p:spPr>
        <p:txBody>
          <a:bodyPr anchorCtr="0" anchor="ctr" bIns="27000" lIns="24300" spcFirstLastPara="1" rIns="0" wrap="square" tIns="270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Boost.Log</a:t>
            </a:r>
            <a:endParaRPr/>
          </a:p>
        </p:txBody>
      </p:sp>
      <p:sp>
        <p:nvSpPr>
          <p:cNvPr id="379" name="Google Shape;379;p50"/>
          <p:cNvSpPr txBox="1"/>
          <p:nvPr>
            <p:ph idx="1" type="body"/>
          </p:nvPr>
        </p:nvSpPr>
        <p:spPr>
          <a:xfrm>
            <a:off x="440531" y="4788678"/>
            <a:ext cx="3375300" cy="273900"/>
          </a:xfrm>
          <a:prstGeom prst="rect">
            <a:avLst/>
          </a:prstGeom>
        </p:spPr>
        <p:txBody>
          <a:bodyPr anchorCtr="0" anchor="ctr" bIns="27000" lIns="24300" spcFirstLastPara="1" rIns="0" wrap="square" tIns="2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50"/>
          <p:cNvSpPr txBox="1"/>
          <p:nvPr>
            <p:ph idx="2" type="body"/>
          </p:nvPr>
        </p:nvSpPr>
        <p:spPr>
          <a:xfrm>
            <a:off x="440531" y="897564"/>
            <a:ext cx="8262900" cy="3564300"/>
          </a:xfrm>
          <a:prstGeom prst="rect">
            <a:avLst/>
          </a:prstGeom>
        </p:spPr>
        <p:txBody>
          <a:bodyPr anchorCtr="0" anchor="t" bIns="27000" lIns="5400" spcFirstLastPara="1" rIns="0" wrap="square" tIns="27000">
            <a:norm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PT Sans"/>
              <a:buChar char="❖"/>
            </a:pPr>
            <a:r>
              <a:rPr lang="ru" sz="1800"/>
              <a:t>Гибкая система логирования</a:t>
            </a:r>
            <a:endParaRPr sz="1800"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PT Sans"/>
              <a:buChar char="❖"/>
            </a:pPr>
            <a:r>
              <a:rPr lang="ru" sz="1800"/>
              <a:t>Обеспечивает возможность логирования сообщений с разными уровнями важности: ERROR, WARNING, INFO, DEBUG, TRACE</a:t>
            </a:r>
            <a:endParaRPr sz="1800"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PT Sans"/>
              <a:buChar char="❖"/>
            </a:pPr>
            <a:r>
              <a:rPr lang="ru" sz="1800"/>
              <a:t>Поддержка конфигурации: настройка формата сообщений, уровней, способов вывода</a:t>
            </a:r>
            <a:endParaRPr sz="1800"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PT Sans"/>
              <a:buChar char="❖"/>
            </a:pPr>
            <a:r>
              <a:rPr lang="ru" sz="1800"/>
              <a:t>Вывод в разные места: файлы, консоль, системный лог (syslog), удалённые серверы</a:t>
            </a:r>
            <a:endParaRPr sz="1800"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PT Sans"/>
              <a:buChar char="❖"/>
            </a:pPr>
            <a:r>
              <a:rPr lang="ru" sz="1800"/>
              <a:t>Логирование через API легко интегрируется в приложения</a:t>
            </a:r>
            <a:endParaRPr sz="1800"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PT Sans"/>
              <a:buChar char="❖"/>
            </a:pPr>
            <a:r>
              <a:rPr lang="ru" sz="1800"/>
              <a:t>Поддержка асинхронных и фильтрационных режимов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81" name="Google Shape;381;p50"/>
          <p:cNvSpPr txBox="1"/>
          <p:nvPr>
            <p:ph idx="12" type="sldNum"/>
          </p:nvPr>
        </p:nvSpPr>
        <p:spPr>
          <a:xfrm>
            <a:off x="8365965" y="4804358"/>
            <a:ext cx="337500" cy="251700"/>
          </a:xfrm>
          <a:prstGeom prst="rect">
            <a:avLst/>
          </a:prstGeom>
        </p:spPr>
        <p:txBody>
          <a:bodyPr anchorCtr="0" anchor="t" bIns="34275" lIns="0" spcFirstLastPara="1" rIns="0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51"/>
          <p:cNvSpPr txBox="1"/>
          <p:nvPr>
            <p:ph type="title"/>
          </p:nvPr>
        </p:nvSpPr>
        <p:spPr>
          <a:xfrm>
            <a:off x="440525" y="255825"/>
            <a:ext cx="8498400" cy="549000"/>
          </a:xfrm>
          <a:prstGeom prst="rect">
            <a:avLst/>
          </a:prstGeom>
        </p:spPr>
        <p:txBody>
          <a:bodyPr anchorCtr="0" anchor="ctr" bIns="27000" lIns="24300" spcFirstLastPara="1" rIns="0" wrap="square" tIns="270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Полезные ссылки</a:t>
            </a:r>
            <a:endParaRPr/>
          </a:p>
        </p:txBody>
      </p:sp>
      <p:sp>
        <p:nvSpPr>
          <p:cNvPr id="387" name="Google Shape;387;p51"/>
          <p:cNvSpPr txBox="1"/>
          <p:nvPr>
            <p:ph idx="1" type="body"/>
          </p:nvPr>
        </p:nvSpPr>
        <p:spPr>
          <a:xfrm>
            <a:off x="440531" y="4788678"/>
            <a:ext cx="3375300" cy="273900"/>
          </a:xfrm>
          <a:prstGeom prst="rect">
            <a:avLst/>
          </a:prstGeom>
        </p:spPr>
        <p:txBody>
          <a:bodyPr anchorCtr="0" anchor="ctr" bIns="27000" lIns="24300" spcFirstLastPara="1" rIns="0" wrap="square" tIns="2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51"/>
          <p:cNvSpPr txBox="1"/>
          <p:nvPr>
            <p:ph idx="2" type="body"/>
          </p:nvPr>
        </p:nvSpPr>
        <p:spPr>
          <a:xfrm>
            <a:off x="440531" y="897564"/>
            <a:ext cx="8262900" cy="3564300"/>
          </a:xfrm>
          <a:prstGeom prst="rect">
            <a:avLst/>
          </a:prstGeom>
        </p:spPr>
        <p:txBody>
          <a:bodyPr anchorCtr="0" anchor="t" bIns="27000" lIns="5400" spcFirstLastPara="1" rIns="0" wrap="square" tIns="27000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PT Sans"/>
              <a:buChar char="❖"/>
            </a:pPr>
            <a:r>
              <a:rPr lang="ru" sz="1800"/>
              <a:t>Документация Boost: </a:t>
            </a:r>
            <a:r>
              <a:rPr lang="ru" sz="1800" u="sng">
                <a:solidFill>
                  <a:schemeClr val="hlink"/>
                </a:solidFill>
                <a:hlinkClick r:id="rId3"/>
              </a:rPr>
              <a:t>https://www.boost.org/libraries/latest/grid/</a:t>
            </a:r>
            <a:r>
              <a:rPr lang="ru" sz="1800"/>
              <a:t> 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PT Sans"/>
              <a:buChar char="❖"/>
            </a:pPr>
            <a:r>
              <a:rPr lang="ru" sz="1800"/>
              <a:t>mongodb: </a:t>
            </a:r>
            <a:r>
              <a:rPr lang="ru" sz="1800" u="sng">
                <a:solidFill>
                  <a:schemeClr val="hlink"/>
                </a:solidFill>
                <a:hlinkClick r:id="rId4"/>
              </a:rPr>
              <a:t>http://mongoengine.org/</a:t>
            </a:r>
            <a:r>
              <a:rPr lang="ru" sz="1800"/>
              <a:t> </a:t>
            </a:r>
            <a:endParaRPr sz="1800"/>
          </a:p>
        </p:txBody>
      </p:sp>
      <p:sp>
        <p:nvSpPr>
          <p:cNvPr id="389" name="Google Shape;389;p51"/>
          <p:cNvSpPr txBox="1"/>
          <p:nvPr>
            <p:ph idx="12" type="sldNum"/>
          </p:nvPr>
        </p:nvSpPr>
        <p:spPr>
          <a:xfrm>
            <a:off x="8365965" y="4804358"/>
            <a:ext cx="337500" cy="251700"/>
          </a:xfrm>
          <a:prstGeom prst="rect">
            <a:avLst/>
          </a:prstGeom>
        </p:spPr>
        <p:txBody>
          <a:bodyPr anchorCtr="0" anchor="t" bIns="34275" lIns="0" spcFirstLastPara="1" rIns="0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52"/>
          <p:cNvSpPr txBox="1"/>
          <p:nvPr>
            <p:ph type="ctrTitle"/>
          </p:nvPr>
        </p:nvSpPr>
        <p:spPr>
          <a:xfrm>
            <a:off x="629841" y="3139343"/>
            <a:ext cx="7885500" cy="678000"/>
          </a:xfrm>
          <a:prstGeom prst="rect">
            <a:avLst/>
          </a:prstGeom>
        </p:spPr>
        <p:txBody>
          <a:bodyPr anchorCtr="0" anchor="ctr" bIns="27000" lIns="5400" spcFirstLastPara="1" rIns="0" wrap="square" tIns="270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Вопросы?</a:t>
            </a:r>
            <a:endParaRPr/>
          </a:p>
        </p:txBody>
      </p:sp>
      <p:sp>
        <p:nvSpPr>
          <p:cNvPr id="395" name="Google Shape;395;p5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34275" lIns="0" spcFirstLastPara="1" rIns="0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300">
                <a:solidFill>
                  <a:srgbClr val="05336E"/>
                </a:solidFill>
              </a:rPr>
              <a:t>‹#›</a:t>
            </a:fld>
            <a:endParaRPr sz="1300">
              <a:solidFill>
                <a:srgbClr val="05336E"/>
              </a:solidFill>
            </a:endParaRPr>
          </a:p>
        </p:txBody>
      </p:sp>
      <p:sp>
        <p:nvSpPr>
          <p:cNvPr id="396" name="Google Shape;396;p52"/>
          <p:cNvSpPr txBox="1"/>
          <p:nvPr>
            <p:ph idx="1" type="body"/>
          </p:nvPr>
        </p:nvSpPr>
        <p:spPr>
          <a:xfrm>
            <a:off x="629841" y="4010118"/>
            <a:ext cx="7885500" cy="740400"/>
          </a:xfrm>
          <a:prstGeom prst="rect">
            <a:avLst/>
          </a:prstGeom>
        </p:spPr>
        <p:txBody>
          <a:bodyPr anchorCtr="0" anchor="t" bIns="27000" lIns="5400" spcFirstLastPara="1" rIns="0" wrap="square" tIns="27000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52"/>
          <p:cNvSpPr txBox="1"/>
          <p:nvPr>
            <p:ph idx="2" type="body"/>
          </p:nvPr>
        </p:nvSpPr>
        <p:spPr>
          <a:xfrm>
            <a:off x="629841" y="2589257"/>
            <a:ext cx="7885500" cy="349500"/>
          </a:xfrm>
          <a:prstGeom prst="rect">
            <a:avLst/>
          </a:prstGeom>
        </p:spPr>
        <p:txBody>
          <a:bodyPr anchorCtr="0" anchor="b" bIns="27000" lIns="5400" spcFirstLastPara="1" rIns="0" wrap="square" tIns="27000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orp_theme_large">
  <a:themeElements>
    <a:clrScheme name="corp_colors">
      <a:dk1>
        <a:srgbClr val="05336E"/>
      </a:dk1>
      <a:lt1>
        <a:srgbClr val="FFFFFF"/>
      </a:lt1>
      <a:dk2>
        <a:srgbClr val="05336E"/>
      </a:dk2>
      <a:lt2>
        <a:srgbClr val="FFFFFF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67A7F8"/>
      </a:hlink>
      <a:folHlink>
        <a:srgbClr val="67A7F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